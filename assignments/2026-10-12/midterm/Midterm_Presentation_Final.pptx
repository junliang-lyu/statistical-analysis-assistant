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d6a1e261c949ce" /><Relationship Type="http://schemas.openxmlformats.org/officeDocument/2006/relationships/extended-properties" Target="/docProps/app.xml" Id="R9dec82c2230745c2" /><Relationship Type="http://schemas.openxmlformats.org/officeDocument/2006/relationships/officeDocument" Target="/ppt/presentation.xml" Id="R63fdf83c9f22477c" /></Relationships>
</file>

<file path=ppt/presentation.xml><?xml version="1.0" encoding="utf-8"?>
<p:presentation xmlns:p="http://schemas.openxmlformats.org/presentationml/2006/main">
  <p:sldMasterIdLst>
    <p:sldMasterId xmlns:r="http://schemas.openxmlformats.org/officeDocument/2006/relationships" id="2147483648" r:id="Rac1ab81a2cf44608"/>
  </p:sldMasterIdLst>
  <p:notesMasterIdLst>
    <p:notesMasterId xmlns:r="http://schemas.openxmlformats.org/officeDocument/2006/relationships" r:id="R42072c145d21444e"/>
  </p:notesMasterIdLst>
  <p:sldIdLst>
    <p:sldId xmlns:r="http://schemas.openxmlformats.org/officeDocument/2006/relationships" id="256" r:id="Rcb06f55a9ac54a65"/>
    <p:sldId xmlns:r="http://schemas.openxmlformats.org/officeDocument/2006/relationships" id="257" r:id="R3f820ad62f484e97"/>
    <p:sldId xmlns:r="http://schemas.openxmlformats.org/officeDocument/2006/relationships" id="258" r:id="Rc106dfa83d524e09"/>
    <p:sldId xmlns:r="http://schemas.openxmlformats.org/officeDocument/2006/relationships" id="259" r:id="R5d9d30db561d410f"/>
    <p:sldId xmlns:r="http://schemas.openxmlformats.org/officeDocument/2006/relationships" id="260" r:id="R7795750ac34d4a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e9dbb8bc194e25" /><Relationship Type="http://schemas.openxmlformats.org/officeDocument/2006/relationships/slideMaster" Target="/ppt/slideMasters/slideMaster1.xml" Id="Rac1ab81a2cf44608" /><Relationship Type="http://schemas.openxmlformats.org/officeDocument/2006/relationships/notesMaster" Target="/ppt/notesMasters/notesMaster1.xml" Id="R42072c145d21444e" /><Relationship Type="http://schemas.openxmlformats.org/officeDocument/2006/relationships/presProps" Target="/ppt/presProps.xml" Id="R6fbadd5ab4974872" /><Relationship Type="http://schemas.openxmlformats.org/officeDocument/2006/relationships/tableStyles" Target="/ppt/tableStyles.xml" Id="R629c2df811f74bc6" /><Relationship Type="http://schemas.openxmlformats.org/officeDocument/2006/relationships/slide" Target="/ppt/slides/slide1.xml" Id="Rcb06f55a9ac54a65" /><Relationship Type="http://schemas.openxmlformats.org/officeDocument/2006/relationships/slide" Target="/ppt/slides/slide2.xml" Id="R3f820ad62f484e97" /><Relationship Type="http://schemas.openxmlformats.org/officeDocument/2006/relationships/slide" Target="/ppt/slides/slide3.xml" Id="Rc106dfa83d524e09" /><Relationship Type="http://schemas.openxmlformats.org/officeDocument/2006/relationships/slide" Target="/ppt/slides/slide4.xml" Id="R5d9d30db561d410f" /><Relationship Type="http://schemas.openxmlformats.org/officeDocument/2006/relationships/slide" Target="/ppt/slides/slide5.xml" Id="R7795750ac34d4a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3bfaffee8f4e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6144d2ad994aa7" /><Relationship Type="http://schemas.openxmlformats.org/officeDocument/2006/relationships/notesMaster" Target="/ppt/notesMasters/notesMaster1.xml" Id="Rda78be2b774c4c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47823b96554899" /><Relationship Type="http://schemas.openxmlformats.org/officeDocument/2006/relationships/notesMaster" Target="/ppt/notesMasters/notesMaster1.xml" Id="Rfa804582b30444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d7a80cad23458c" /><Relationship Type="http://schemas.openxmlformats.org/officeDocument/2006/relationships/notesMaster" Target="/ppt/notesMasters/notesMaster1.xml" Id="Rbe2ea879f6be4d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c71ca4dd684c8a" /><Relationship Type="http://schemas.openxmlformats.org/officeDocument/2006/relationships/notesMaster" Target="/ppt/notesMasters/notesMaster1.xml" Id="Rf37c3ec0ec88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6386626bd94842" /><Relationship Type="http://schemas.openxmlformats.org/officeDocument/2006/relationships/notesMaster" Target="/ppt/notesMasters/notesMaster1.xml" Id="Re6112fd706044b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built a local assistant that accepts a CSV and a natural-language research question, translates it into a structured analysis plan, calls deterministic statistical tools and explains the result with its limits. The current scope is four methods, a real compiled LangGraph StateGraph, a local English UI, session memory and bounded retries. Planner and Interpreter are distinct LLM roles using DeepSeek; numerical calculations and method rules run in Python. We do not claim general-purpose statistical analysis or validated causal inference. Source: current project code, built-in examples and executed submission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Planner identifies the user intent and variable roles, but deterministic rules verify and select supported methods. Unknown independent versus paired design triggers a LangGraph interrupt. The Interpreter receives the plan plus computed results and diagnostics: this is the handoff from one LLM role to the other through shared graph state. A deterministic critique checks formatting, numerical placeholders, method wording and some unsafe claims; it is not a third LLM agent. Plan-format repair and interpretation rewrite are each limited to one attempt, with an overall five-call LLM budget. Unusable input stops the workflow. There is no automatic search through alternative statistical methods in this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The built-in two-group CSV has group and outcome columns. Planner output is a structured plan with goal difference, group group and outcome outcome. The user confirms independent observations and an observational study; the CSV alone cannot prove the study design. Two groups and a continuous outcome with a mean-comparison question select Welch, which does not require equal variances. Checks include finite values, complete cases, group counts, nonconstant values and available Shapiro, skewness and outlier diagnostics; these checks do not establish independence. SciPy gives treatment minus control 1.2532, p approximately 5.797e-7 and a 95% interval approximately 0.8176 to 1.6888 for 50 observations. Interpreter describes the observed mean difference with uncertainty and states that causality is not established. Numbers are inserted from tool output. Pearson answers a different question: linear association between two numerical variables. Source: examples/data/trial.csv and current executed demonstration / tool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Session memory uses a LangGraph checkpointer and thread ID. Explanation-only follow-up reuses the prior result; its trail displays reuse_result, which is a trace label rather than a separate graph node. A changed date filter follows the analysis path and recomputes the subset, diagnostics, sample size, statistics and interpretation. In the correlation example, all 20 rows become 10 rows for calendar year 2025. We reuse intent and confirmed metadata, not the old numerical conclusion. Thirty-one predefined cases include ordinary, borderline, ambiguous, unsupported and follow-up problems. In the first live batch, 28 of 31 met strict mechanical expectations; the three mismatches were safe-stop or clarification behavior differences. Seventeen computed outputs passed numerical-reference comparisons. These are not semantic interpretation accuracy. Human semantic review is pending. Source: artifacts/benchmark_v2/live_v2_first/REPORT.md and results.json; built-in correlation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This is an observed failure of our current checker using a deliberately authored error. We inserted the sentence about an eighty-percent outcome increase into an otherwise correctly structured Pearson interpretation. The checker accepted it, even though a correlation coefficient is dimensionless and does not describe a percentage change. We are not claiming DeepSeek produced this sentence. The controlled challenge suite caught nine of twelve planted errors and missed three; it is not a real-model accuracy estimate. The fix is proposed: add method-specific semantic tests, such as correlation versus percentage change and zero linear correlation versus no relationship, and have two teammates independently review the question, tool output and interpretation before resolving disagreements. An additional AI reviewer could assist, but would need validation against those labels. This is the part we are least confident in. Source: examples/interpretation_checks/REPORT.md and planted_errors/pearson_percent_misinterpretation.json.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c93344463247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bf3f99bf3743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1fa3dc58ca4f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97b5c117be48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69c39b2b6b42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efd0359d2443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3F0774-4E77-4BBC-B4FD-E55CAB7B5C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C87930-DEA5-4508-B4EC-6923616B8D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99AFCB-E266-4654-AEF9-7AB3E6937E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8BE82F-E4A9-44DB-9F05-5CA3EDC438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F949D1-7686-4197-9007-261E51BBEB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0551AC-8854-4874-8805-B084AC8542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E4AFED-FB3B-4AE2-85FB-447A973DE8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DAF537-4C77-409A-9BB1-4B6B402FD8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499BEE-62AD-48B5-86DC-E747CB76D5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F5FC98-E22F-4E3A-9A66-E2C7BC9F3F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aacede2d3c42cd" /><Relationship Type="http://schemas.openxmlformats.org/officeDocument/2006/relationships/slideLayout" Target="/ppt/slideLayouts/slideLayout1.xml" Id="R245f0ea5746441f1" /><Relationship Type="http://schemas.openxmlformats.org/officeDocument/2006/relationships/slideLayout" Target="/ppt/slideLayouts/slideLayout2.xml" Id="R1bcb0fa7e73945f5" /><Relationship Type="http://schemas.openxmlformats.org/officeDocument/2006/relationships/slideLayout" Target="/ppt/slideLayouts/slideLayout3.xml" Id="R2427d8085192409a" /><Relationship Type="http://schemas.openxmlformats.org/officeDocument/2006/relationships/slideLayout" Target="/ppt/slideLayouts/slideLayout4.xml" Id="R6134d7a42b95424e" /><Relationship Type="http://schemas.openxmlformats.org/officeDocument/2006/relationships/slideLayout" Target="/ppt/slideLayouts/slideLayout5.xml" Id="Re2efaaa10ee74dec" /><Relationship Type="http://schemas.openxmlformats.org/officeDocument/2006/relationships/slideLayout" Target="/ppt/slideLayouts/slideLayout6.xml" Id="Rc1e8468ac06540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5f0ea5746441f1"/>
    <p:sldLayoutId xmlns:r="http://schemas.openxmlformats.org/officeDocument/2006/relationships" id="2147483650" r:id="R1bcb0fa7e73945f5"/>
    <p:sldLayoutId xmlns:r="http://schemas.openxmlformats.org/officeDocument/2006/relationships" id="2147483651" r:id="R2427d8085192409a"/>
    <p:sldLayoutId xmlns:r="http://schemas.openxmlformats.org/officeDocument/2006/relationships" id="2147483652" r:id="R6134d7a42b95424e"/>
    <p:sldLayoutId xmlns:r="http://schemas.openxmlformats.org/officeDocument/2006/relationships" id="2147483653" r:id="Re2efaaa10ee74dec"/>
    <p:sldLayoutId xmlns:r="http://schemas.openxmlformats.org/officeDocument/2006/relationships" id="2147483654" r:id="Rc1e8468ac06540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6fe44206c64f0a" /><Relationship Type="http://schemas.openxmlformats.org/officeDocument/2006/relationships/notesSlide" Target="/ppt/notesSlides/notesSlide1.xml" Id="R42f60cd06d1c49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813408b4994d1c" /><Relationship Type="http://schemas.openxmlformats.org/officeDocument/2006/relationships/notesSlide" Target="/ppt/notesSlides/notesSlide2.xml" Id="Rf39116e0334d4b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cf98410267f44e4" /><Relationship Type="http://schemas.openxmlformats.org/officeDocument/2006/relationships/notesSlide" Target="/ppt/notesSlides/notesSlide3.xml" Id="R153923599b624d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faf46024824fe8" /><Relationship Type="http://schemas.openxmlformats.org/officeDocument/2006/relationships/notesSlide" Target="/ppt/notesSlides/notesSlide4.xml" Id="R6183c85c038c4e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63abac64214665" /><Relationship Type="http://schemas.openxmlformats.org/officeDocument/2006/relationships/notesSlide" Target="/ppt/notesSlides/notesSlide5.xml" Id="R478c6a1256a54b2e"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F0D8E37-4809-491F-98AE-5B21EF19809C}"/>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FE9032E9-F813-4ECA-B8F1-59856C73411D}"/>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defRPr sz="3225" b="1">
                <a:solidFill>
                  <a:srgbClr val="183D36"/>
                </a:solidFill>
                <a:latin typeface="Calibri"/>
                <a:ea typeface="Calibri"/>
                <a:cs typeface="Calibri"/>
              </a:defRPr>
            </a:pPr>
            <a:r>
              <a:rPr sz="3225" b="1">
                <a:solidFill>
                  <a:srgbClr val="183D36"/>
                </a:solidFill>
                <a:latin typeface="Calibri"/>
                <a:ea typeface="Calibri"/>
                <a:cs typeface="Calibri"/>
              </a:rPr>
              <a:t>From a research question to an auditable analysis</a:t>
            </a:r>
          </a:p>
        </p:txBody>
      </p:sp>
      <p:sp>
        <p:nvSpPr>
          <p:cNvPr id="3" name="">
            <a:extLst xmlns:a="http://schemas.openxmlformats.org/drawingml/2006/main">
              <a:ext uri="{FF2B5EF4-FFF2-40B4-BE49-F238E27FC236}">
                <a16:creationId xmlns:a16="http://schemas.microsoft.com/office/drawing/2014/main" id="{142D52D4-F750-4770-BD62-4EECFF6C5B0D}"/>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CDE7C4-024A-4066-9BFF-D12D8EE10A3C}"/>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Agentic Statistical Analysis Assistant</a:t>
            </a:r>
          </a:p>
        </p:txBody>
      </p:sp>
      <p:sp>
        <p:nvSpPr>
          <p:cNvPr id="5" name="">
            <a:extLst xmlns:a="http://schemas.openxmlformats.org/drawingml/2006/main">
              <a:ext uri="{FF2B5EF4-FFF2-40B4-BE49-F238E27FC236}">
                <a16:creationId xmlns:a16="http://schemas.microsoft.com/office/drawing/2014/main" id="{A0C358CC-5882-43A6-9E18-C472538C137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1 / 5</a:t>
            </a:r>
          </a:p>
        </p:txBody>
      </p:sp>
      <p:sp>
        <p:nvSpPr>
          <p:cNvPr id="6" name="">
            <a:extLst xmlns:a="http://schemas.openxmlformats.org/drawingml/2006/main">
              <a:ext uri="{FF2B5EF4-FFF2-40B4-BE49-F238E27FC236}">
                <a16:creationId xmlns:a16="http://schemas.microsoft.com/office/drawing/2014/main" id="{FE37CF37-286D-4B31-96F8-3F698815117E}"/>
              </a:ext>
            </a:extLst>
          </p:cNvPr>
          <p:cNvSpPr>
            <a:spLocks xmlns:a="http://schemas.openxmlformats.org/drawingml/2006/main" noGrp="1"/>
          </p:cNvSpPr>
          <p:nvPr/>
        </p:nvSpPr>
        <p:spPr>
          <a:xfrm xmlns:a="http://schemas.openxmlformats.org/drawingml/2006/main">
            <a:off x="609600" y="20574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D36"/>
                </a:solidFill>
                <a:latin typeface="Calibri"/>
                <a:ea typeface="Calibri"/>
                <a:cs typeface="Calibri"/>
              </a:defRPr>
            </a:defPPr>
          </a:lstStyle>
          <a:p xmlns:a="http://schemas.openxmlformats.org/drawingml/2006/main">
            <a:pPr>
              <a:defRPr sz="2625" b="1">
                <a:solidFill>
                  <a:srgbClr val="183D36"/>
                </a:solidFill>
                <a:latin typeface="Calibri"/>
                <a:ea typeface="Calibri"/>
                <a:cs typeface="Calibri"/>
              </a:defRPr>
            </a:pPr>
            <a:r>
              <a:rPr sz="2625" b="1">
                <a:solidFill>
                  <a:srgbClr val="183D36"/>
                </a:solidFill>
                <a:latin typeface="Calibri"/>
                <a:ea typeface="Calibri"/>
                <a:cs typeface="Calibri"/>
              </a:rPr>
              <a:t>CSV + question</a:t>
            </a:r>
          </a:p>
        </p:txBody>
      </p:sp>
      <p:sp>
        <p:nvSpPr>
          <p:cNvPr id="7" name="">
            <a:extLst xmlns:a="http://schemas.openxmlformats.org/drawingml/2006/main">
              <a:ext uri="{FF2B5EF4-FFF2-40B4-BE49-F238E27FC236}">
                <a16:creationId xmlns:a16="http://schemas.microsoft.com/office/drawing/2014/main" id="{73BD25B8-21A7-4A39-BC42-55237D512B32}"/>
              </a:ext>
            </a:extLst>
          </p:cNvPr>
          <p:cNvSpPr>
            <a:spLocks xmlns:a="http://schemas.openxmlformats.org/drawingml/2006/main" noGrp="1"/>
          </p:cNvSpPr>
          <p:nvPr/>
        </p:nvSpPr>
        <p:spPr>
          <a:xfrm xmlns:a="http://schemas.openxmlformats.org/drawingml/2006/main">
            <a:off x="609600" y="2657475"/>
            <a:ext cx="335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“Compare mean outcome</a:t>
            </a:r>
          </a:p>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between treatment and control.”</a:t>
            </a:r>
          </a:p>
        </p:txBody>
      </p:sp>
      <p:sp>
        <p:nvSpPr>
          <p:cNvPr id="8" name="">
            <a:extLst xmlns:a="http://schemas.openxmlformats.org/drawingml/2006/main">
              <a:ext uri="{FF2B5EF4-FFF2-40B4-BE49-F238E27FC236}">
                <a16:creationId xmlns:a16="http://schemas.microsoft.com/office/drawing/2014/main" id="{7D5349D3-8955-4397-85F5-3442BCFE743F}"/>
              </a:ext>
            </a:extLst>
          </p:cNvPr>
          <p:cNvSpPr>
            <a:spLocks xmlns:a="http://schemas.openxmlformats.org/drawingml/2006/main" noGrp="1"/>
          </p:cNvSpPr>
          <p:nvPr/>
        </p:nvSpPr>
        <p:spPr>
          <a:xfrm xmlns:a="http://schemas.openxmlformats.org/drawingml/2006/main">
            <a:off x="4038600" y="2724150"/>
            <a:ext cx="59055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8164ED-A4E2-42A9-A67A-8C9448F8B430}"/>
              </a:ext>
            </a:extLst>
          </p:cNvPr>
          <p:cNvSpPr>
            <a:spLocks xmlns:a="http://schemas.openxmlformats.org/drawingml/2006/main" noGrp="1"/>
          </p:cNvSpPr>
          <p:nvPr/>
        </p:nvSpPr>
        <p:spPr>
          <a:xfrm xmlns:a="http://schemas.openxmlformats.org/drawingml/2006/main">
            <a:off x="4943475" y="20574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D36"/>
                </a:solidFill>
                <a:latin typeface="Calibri"/>
                <a:ea typeface="Calibri"/>
                <a:cs typeface="Calibri"/>
              </a:defRPr>
            </a:defPPr>
          </a:lstStyle>
          <a:p xmlns:a="http://schemas.openxmlformats.org/drawingml/2006/main">
            <a:pPr>
              <a:defRPr sz="2625" b="1">
                <a:solidFill>
                  <a:srgbClr val="183D36"/>
                </a:solidFill>
                <a:latin typeface="Calibri"/>
                <a:ea typeface="Calibri"/>
                <a:cs typeface="Calibri"/>
              </a:defRPr>
            </a:pPr>
            <a:r>
              <a:rPr sz="2625" b="1">
                <a:solidFill>
                  <a:srgbClr val="183D36"/>
                </a:solidFill>
                <a:latin typeface="Calibri"/>
                <a:ea typeface="Calibri"/>
                <a:cs typeface="Calibri"/>
              </a:rPr>
              <a:t>LangGraph workflow</a:t>
            </a:r>
          </a:p>
        </p:txBody>
      </p:sp>
      <p:sp>
        <p:nvSpPr>
          <p:cNvPr id="10" name="">
            <a:extLst xmlns:a="http://schemas.openxmlformats.org/drawingml/2006/main">
              <a:ext uri="{FF2B5EF4-FFF2-40B4-BE49-F238E27FC236}">
                <a16:creationId xmlns:a16="http://schemas.microsoft.com/office/drawing/2014/main" id="{614AB5C2-EA06-4D2F-B75F-18A33A925CD1}"/>
              </a:ext>
            </a:extLst>
          </p:cNvPr>
          <p:cNvSpPr>
            <a:spLocks xmlns:a="http://schemas.openxmlformats.org/drawingml/2006/main" noGrp="1"/>
          </p:cNvSpPr>
          <p:nvPr/>
        </p:nvSpPr>
        <p:spPr>
          <a:xfrm xmlns:a="http://schemas.openxmlformats.org/drawingml/2006/main">
            <a:off x="4943475" y="2657475"/>
            <a:ext cx="320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D36"/>
                </a:solidFill>
                <a:latin typeface="Calibri"/>
                <a:ea typeface="Calibri"/>
                <a:cs typeface="Calibri"/>
              </a:defRPr>
            </a:defPPr>
          </a:lstStyle>
          <a:p xmlns:a="http://schemas.openxmlformats.org/drawingml/2006/main">
            <a:pPr>
              <a:defRPr sz="2175" b="0">
                <a:solidFill>
                  <a:srgbClr val="183D36"/>
                </a:solidFill>
                <a:latin typeface="Calibri"/>
                <a:ea typeface="Calibri"/>
                <a:cs typeface="Calibri"/>
              </a:defRPr>
            </a:pPr>
            <a:r>
              <a:rPr sz="2175" b="0">
                <a:solidFill>
                  <a:srgbClr val="183D36"/>
                </a:solidFill>
                <a:latin typeface="Calibri"/>
                <a:ea typeface="Calibri"/>
                <a:cs typeface="Calibri"/>
              </a:rPr>
              <a:t>Plan → check → calculate</a:t>
            </a:r>
          </a:p>
          <a:p xmlns:a="http://schemas.openxmlformats.org/drawingml/2006/main">
            <a:pPr>
              <a:defRPr sz="2175" b="0">
                <a:solidFill>
                  <a:srgbClr val="183D36"/>
                </a:solidFill>
                <a:latin typeface="Calibri"/>
                <a:ea typeface="Calibri"/>
                <a:cs typeface="Calibri"/>
              </a:defRPr>
            </a:pPr>
            <a:r>
              <a:rPr sz="2175" b="0">
                <a:solidFill>
                  <a:srgbClr val="183D36"/>
                </a:solidFill>
                <a:latin typeface="Calibri"/>
                <a:ea typeface="Calibri"/>
                <a:cs typeface="Calibri"/>
              </a:rPr>
              <a:t>→ interpret → validate</a:t>
            </a:r>
          </a:p>
        </p:txBody>
      </p:sp>
      <p:sp>
        <p:nvSpPr>
          <p:cNvPr id="11" name="">
            <a:extLst xmlns:a="http://schemas.openxmlformats.org/drawingml/2006/main">
              <a:ext uri="{FF2B5EF4-FFF2-40B4-BE49-F238E27FC236}">
                <a16:creationId xmlns:a16="http://schemas.microsoft.com/office/drawing/2014/main" id="{7565187C-A71F-4261-8119-E6539FCA72BA}"/>
              </a:ext>
            </a:extLst>
          </p:cNvPr>
          <p:cNvSpPr>
            <a:spLocks xmlns:a="http://schemas.openxmlformats.org/drawingml/2006/main" noGrp="1"/>
          </p:cNvSpPr>
          <p:nvPr/>
        </p:nvSpPr>
        <p:spPr>
          <a:xfrm xmlns:a="http://schemas.openxmlformats.org/drawingml/2006/main">
            <a:off x="8391525" y="2724150"/>
            <a:ext cx="59055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E892891-5D0D-458D-AF2C-8B1744A1CA1A}"/>
              </a:ext>
            </a:extLst>
          </p:cNvPr>
          <p:cNvSpPr>
            <a:spLocks xmlns:a="http://schemas.openxmlformats.org/drawingml/2006/main" noGrp="1"/>
          </p:cNvSpPr>
          <p:nvPr/>
        </p:nvSpPr>
        <p:spPr>
          <a:xfrm xmlns:a="http://schemas.openxmlformats.org/drawingml/2006/main">
            <a:off x="9258300" y="2057400"/>
            <a:ext cx="2343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D36"/>
                </a:solidFill>
                <a:latin typeface="Calibri"/>
                <a:ea typeface="Calibri"/>
                <a:cs typeface="Calibri"/>
              </a:defRPr>
            </a:defPPr>
          </a:lstStyle>
          <a:p xmlns:a="http://schemas.openxmlformats.org/drawingml/2006/main">
            <a:pPr>
              <a:defRPr sz="2625" b="1">
                <a:solidFill>
                  <a:srgbClr val="183D36"/>
                </a:solidFill>
                <a:latin typeface="Calibri"/>
                <a:ea typeface="Calibri"/>
                <a:cs typeface="Calibri"/>
              </a:defRPr>
            </a:pPr>
            <a:r>
              <a:rPr sz="2625" b="1">
                <a:solidFill>
                  <a:srgbClr val="183D36"/>
                </a:solidFill>
                <a:latin typeface="Calibri"/>
                <a:ea typeface="Calibri"/>
                <a:cs typeface="Calibri"/>
              </a:rPr>
              <a:t>Evidence + limits</a:t>
            </a:r>
          </a:p>
        </p:txBody>
      </p:sp>
      <p:sp>
        <p:nvSpPr>
          <p:cNvPr id="13" name="">
            <a:extLst xmlns:a="http://schemas.openxmlformats.org/drawingml/2006/main">
              <a:ext uri="{FF2B5EF4-FFF2-40B4-BE49-F238E27FC236}">
                <a16:creationId xmlns:a16="http://schemas.microsoft.com/office/drawing/2014/main" id="{2BB7F38C-1173-4BCC-A7AB-01ADF9FA2C11}"/>
              </a:ext>
            </a:extLst>
          </p:cNvPr>
          <p:cNvSpPr>
            <a:spLocks xmlns:a="http://schemas.openxmlformats.org/drawingml/2006/main" noGrp="1"/>
          </p:cNvSpPr>
          <p:nvPr/>
        </p:nvSpPr>
        <p:spPr>
          <a:xfrm xmlns:a="http://schemas.openxmlformats.org/drawingml/2006/main">
            <a:off x="9258300" y="3209925"/>
            <a:ext cx="2362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6"/>
                </a:solidFill>
                <a:latin typeface="Calibri"/>
                <a:ea typeface="Calibri"/>
                <a:cs typeface="Calibri"/>
              </a:defRPr>
            </a:defPPr>
          </a:lstStyle>
          <a:p xmlns:a="http://schemas.openxmlformats.org/drawingml/2006/main">
            <a:pPr>
              <a:defRPr sz="1950" b="0">
                <a:solidFill>
                  <a:srgbClr val="183D36"/>
                </a:solidFill>
                <a:latin typeface="Calibri"/>
                <a:ea typeface="Calibri"/>
                <a:cs typeface="Calibri"/>
              </a:defRPr>
            </a:pPr>
            <a:r>
              <a:rPr sz="1950" b="0">
                <a:solidFill>
                  <a:srgbClr val="183D36"/>
                </a:solidFill>
                <a:latin typeface="Calibri"/>
                <a:ea typeface="Calibri"/>
                <a:cs typeface="Calibri"/>
              </a:rPr>
              <a:t>Effect, p-value, interval</a:t>
            </a:r>
          </a:p>
          <a:p xmlns:a="http://schemas.openxmlformats.org/drawingml/2006/main">
            <a:pPr>
              <a:defRPr sz="1950" b="0">
                <a:solidFill>
                  <a:srgbClr val="183D36"/>
                </a:solidFill>
                <a:latin typeface="Calibri"/>
                <a:ea typeface="Calibri"/>
                <a:cs typeface="Calibri"/>
              </a:defRPr>
            </a:pPr>
            <a:r>
              <a:rPr sz="1950" b="0">
                <a:solidFill>
                  <a:srgbClr val="183D36"/>
                </a:solidFill>
                <a:latin typeface="Calibri"/>
                <a:ea typeface="Calibri"/>
                <a:cs typeface="Calibri"/>
              </a:rPr>
              <a:t>Visible execution trail</a:t>
            </a:r>
          </a:p>
        </p:txBody>
      </p:sp>
      <p:sp>
        <p:nvSpPr>
          <p:cNvPr id="14" name="">
            <a:extLst xmlns:a="http://schemas.openxmlformats.org/drawingml/2006/main">
              <a:ext uri="{FF2B5EF4-FFF2-40B4-BE49-F238E27FC236}">
                <a16:creationId xmlns:a16="http://schemas.microsoft.com/office/drawing/2014/main" id="{85F5AAF0-EABB-4CE6-B0C6-D1345711BDD3}"/>
              </a:ext>
            </a:extLst>
          </p:cNvPr>
          <p:cNvSpPr>
            <a:spLocks xmlns:a="http://schemas.openxmlformats.org/drawingml/2006/main" noGrp="1"/>
          </p:cNvSpPr>
          <p:nvPr/>
        </p:nvSpPr>
        <p:spPr>
          <a:xfrm xmlns:a="http://schemas.openxmlformats.org/drawingml/2006/main">
            <a:off x="609600" y="4391025"/>
            <a:ext cx="10972800" cy="1323975"/>
          </a:xfrm>
          <a:prstGeom xmlns:a="http://schemas.openxmlformats.org/drawingml/2006/main" prst="rect">
            <a:avLst/>
          </a:prstGeom>
          <a:solidFill xmlns:a="http://schemas.openxmlformats.org/drawingml/2006/main">
            <a:srgbClr val="E9EEE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13D711-E992-49D8-8B21-C0745F97F43E}"/>
              </a:ext>
            </a:extLst>
          </p:cNvPr>
          <p:cNvSpPr>
            <a:spLocks xmlns:a="http://schemas.openxmlformats.org/drawingml/2006/main" noGrp="1"/>
          </p:cNvSpPr>
          <p:nvPr/>
        </p:nvSpPr>
        <p:spPr>
          <a:xfrm xmlns:a="http://schemas.openxmlformats.org/drawingml/2006/main">
            <a:off x="819150" y="456247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D5036"/>
                </a:solidFill>
                <a:latin typeface="Calibri"/>
                <a:ea typeface="Calibri"/>
                <a:cs typeface="Calibri"/>
              </a:defRPr>
            </a:defPPr>
          </a:lstStyle>
          <a:p xmlns:a="http://schemas.openxmlformats.org/drawingml/2006/main">
            <a:pPr>
              <a:defRPr sz="1350" b="1">
                <a:solidFill>
                  <a:srgbClr val="BD5036"/>
                </a:solidFill>
                <a:latin typeface="Calibri"/>
                <a:ea typeface="Calibri"/>
                <a:cs typeface="Calibri"/>
              </a:defRPr>
            </a:pPr>
            <a:r>
              <a:rPr sz="1350" b="1">
                <a:solidFill>
                  <a:srgbClr val="BD5036"/>
                </a:solidFill>
                <a:latin typeface="Calibri"/>
                <a:ea typeface="Calibri"/>
                <a:cs typeface="Calibri"/>
              </a:rPr>
              <a:t>IMPLEMENTED</a:t>
            </a:r>
          </a:p>
        </p:txBody>
      </p:sp>
      <p:sp>
        <p:nvSpPr>
          <p:cNvPr id="16" name="">
            <a:extLst xmlns:a="http://schemas.openxmlformats.org/drawingml/2006/main">
              <a:ext uri="{FF2B5EF4-FFF2-40B4-BE49-F238E27FC236}">
                <a16:creationId xmlns:a16="http://schemas.microsoft.com/office/drawing/2014/main" id="{DE676234-F1C3-48AB-9CA7-B7D800281077}"/>
              </a:ext>
            </a:extLst>
          </p:cNvPr>
          <p:cNvSpPr>
            <a:spLocks xmlns:a="http://schemas.openxmlformats.org/drawingml/2006/main" noGrp="1"/>
          </p:cNvSpPr>
          <p:nvPr/>
        </p:nvSpPr>
        <p:spPr>
          <a:xfrm xmlns:a="http://schemas.openxmlformats.org/drawingml/2006/main">
            <a:off x="819150" y="4953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defRPr sz="2175" b="1">
                <a:solidFill>
                  <a:srgbClr val="183D36"/>
                </a:solidFill>
                <a:latin typeface="Calibri"/>
                <a:ea typeface="Calibri"/>
                <a:cs typeface="Calibri"/>
              </a:defRPr>
            </a:pPr>
            <a:r>
              <a:rPr sz="2175" b="1">
                <a:solidFill>
                  <a:srgbClr val="183D36"/>
                </a:solidFill>
                <a:latin typeface="Calibri"/>
                <a:ea typeface="Calibri"/>
                <a:cs typeface="Calibri"/>
              </a:rPr>
              <a:t>Welch t-test   |   Pearson r   |   Chi-square   |   Simple OLS</a:t>
            </a:r>
          </a:p>
        </p:txBody>
      </p:sp>
      <p:sp>
        <p:nvSpPr>
          <p:cNvPr id="17" name="">
            <a:extLst xmlns:a="http://schemas.openxmlformats.org/drawingml/2006/main">
              <a:ext uri="{FF2B5EF4-FFF2-40B4-BE49-F238E27FC236}">
                <a16:creationId xmlns:a16="http://schemas.microsoft.com/office/drawing/2014/main" id="{13CDDAF8-645A-4C70-9677-FE3ABC181E02}"/>
              </a:ext>
            </a:extLst>
          </p:cNvPr>
          <p:cNvSpPr>
            <a:spLocks xmlns:a="http://schemas.openxmlformats.org/drawingml/2006/main" noGrp="1"/>
          </p:cNvSpPr>
          <p:nvPr/>
        </p:nvSpPr>
        <p:spPr>
          <a:xfrm xmlns:a="http://schemas.openxmlformats.org/drawingml/2006/main">
            <a:off x="819150" y="5391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D36"/>
                </a:solidFill>
                <a:latin typeface="Calibri"/>
                <a:ea typeface="Calibri"/>
                <a:cs typeface="Calibri"/>
              </a:defRPr>
            </a:defPPr>
          </a:lstStyle>
          <a:p xmlns:a="http://schemas.openxmlformats.org/drawingml/2006/main">
            <a:pPr>
              <a:defRPr sz="1650" b="0">
                <a:solidFill>
                  <a:srgbClr val="183D36"/>
                </a:solidFill>
                <a:latin typeface="Calibri"/>
                <a:ea typeface="Calibri"/>
                <a:cs typeface="Calibri"/>
              </a:defRPr>
            </a:pPr>
            <a:r>
              <a:rPr sz="1650" b="0">
                <a:solidFill>
                  <a:srgbClr val="183D36"/>
                </a:solidFill>
                <a:latin typeface="Calibri"/>
                <a:ea typeface="Calibri"/>
                <a:cs typeface="Calibri"/>
              </a:rPr>
              <a:t>Local English UI   •   Two LLM roles   •   Session memory   •   Bounded retries</a:t>
            </a:r>
          </a:p>
        </p:txBody>
      </p:sp>
    </p:spTree>
    <p:extLst>
      <p:ext uri="{BB962C8B-B14F-4D97-AF65-F5344CB8AC3E}">
        <p14:creationId xmlns:p14="http://schemas.microsoft.com/office/powerpoint/2010/main" val="147824673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A557D45-1DFB-4599-8A45-D4B3B2AABD79}"/>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D551D9F6-BBF1-43B6-934C-B4C4C8162D95}"/>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defRPr sz="3225" b="1">
                <a:solidFill>
                  <a:srgbClr val="183D36"/>
                </a:solidFill>
                <a:latin typeface="Calibri"/>
                <a:ea typeface="Calibri"/>
                <a:cs typeface="Calibri"/>
              </a:defRPr>
            </a:pPr>
            <a:r>
              <a:rPr sz="3225" b="1">
                <a:solidFill>
                  <a:srgbClr val="183D36"/>
                </a:solidFill>
                <a:latin typeface="Calibri"/>
                <a:ea typeface="Calibri"/>
                <a:cs typeface="Calibri"/>
              </a:rPr>
              <a:t>Two LLM roles; explicit checks between them</a:t>
            </a:r>
          </a:p>
        </p:txBody>
      </p:sp>
      <p:sp>
        <p:nvSpPr>
          <p:cNvPr id="3" name="">
            <a:extLst xmlns:a="http://schemas.openxmlformats.org/drawingml/2006/main">
              <a:ext uri="{FF2B5EF4-FFF2-40B4-BE49-F238E27FC236}">
                <a16:creationId xmlns:a16="http://schemas.microsoft.com/office/drawing/2014/main" id="{F62F61F6-50AE-4C2C-9563-CC11A30C6C6A}"/>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3A1BCC-6C34-4E11-AD89-459F01377568}"/>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Agentic Statistical Analysis Assistant</a:t>
            </a:r>
          </a:p>
        </p:txBody>
      </p:sp>
      <p:sp>
        <p:nvSpPr>
          <p:cNvPr id="5" name="">
            <a:extLst xmlns:a="http://schemas.openxmlformats.org/drawingml/2006/main">
              <a:ext uri="{FF2B5EF4-FFF2-40B4-BE49-F238E27FC236}">
                <a16:creationId xmlns:a16="http://schemas.microsoft.com/office/drawing/2014/main" id="{4EA23B40-4CA9-4589-8B98-71D16AFEFD8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2 / 5</a:t>
            </a:r>
          </a:p>
        </p:txBody>
      </p:sp>
      <p:sp>
        <p:nvSpPr>
          <p:cNvPr id="6" name="">
            <a:extLst xmlns:a="http://schemas.openxmlformats.org/drawingml/2006/main">
              <a:ext uri="{FF2B5EF4-FFF2-40B4-BE49-F238E27FC236}">
                <a16:creationId xmlns:a16="http://schemas.microsoft.com/office/drawing/2014/main" id="{1A027465-F07D-47D9-928A-C3E589970361}"/>
              </a:ext>
            </a:extLst>
          </p:cNvPr>
          <p:cNvSpPr>
            <a:spLocks xmlns:a="http://schemas.openxmlformats.org/drawingml/2006/main" noGrp="1"/>
          </p:cNvSpPr>
          <p:nvPr/>
        </p:nvSpPr>
        <p:spPr>
          <a:xfrm xmlns:a="http://schemas.openxmlformats.org/drawingml/2006/main">
            <a:off x="609600" y="1876425"/>
            <a:ext cx="3267075" cy="1257300"/>
          </a:xfrm>
          <a:prstGeom xmlns:a="http://schemas.openxmlformats.org/drawingml/2006/main" prst="rect">
            <a:avLst/>
          </a:prstGeom>
          <a:solidFill xmlns:a="http://schemas.openxmlformats.org/drawingml/2006/main">
            <a:srgbClr val="E9E7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1C8071-BD3C-407D-9FDE-057E75B08D0E}"/>
              </a:ext>
            </a:extLst>
          </p:cNvPr>
          <p:cNvSpPr>
            <a:spLocks xmlns:a="http://schemas.openxmlformats.org/drawingml/2006/main" noGrp="1"/>
          </p:cNvSpPr>
          <p:nvPr/>
        </p:nvSpPr>
        <p:spPr>
          <a:xfrm xmlns:a="http://schemas.openxmlformats.org/drawingml/2006/main">
            <a:off x="800100" y="2009775"/>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defRPr sz="2250" b="1">
                <a:solidFill>
                  <a:srgbClr val="183D36"/>
                </a:solidFill>
                <a:latin typeface="Calibri"/>
                <a:ea typeface="Calibri"/>
                <a:cs typeface="Calibri"/>
              </a:defRPr>
            </a:pPr>
            <a:r>
              <a:rPr sz="2250" b="1">
                <a:solidFill>
                  <a:srgbClr val="183D36"/>
                </a:solidFill>
                <a:latin typeface="Calibri"/>
                <a:ea typeface="Calibri"/>
                <a:cs typeface="Calibri"/>
              </a:rPr>
              <a:t>Planner  /  LLM</a:t>
            </a:r>
          </a:p>
        </p:txBody>
      </p:sp>
      <p:sp>
        <p:nvSpPr>
          <p:cNvPr id="8" name="">
            <a:extLst xmlns:a="http://schemas.openxmlformats.org/drawingml/2006/main">
              <a:ext uri="{FF2B5EF4-FFF2-40B4-BE49-F238E27FC236}">
                <a16:creationId xmlns:a16="http://schemas.microsoft.com/office/drawing/2014/main" id="{0ADBF015-3773-4EB9-A5BE-1750FCB41314}"/>
              </a:ext>
            </a:extLst>
          </p:cNvPr>
          <p:cNvSpPr>
            <a:spLocks xmlns:a="http://schemas.openxmlformats.org/drawingml/2006/main" noGrp="1"/>
          </p:cNvSpPr>
          <p:nvPr/>
        </p:nvSpPr>
        <p:spPr>
          <a:xfrm xmlns:a="http://schemas.openxmlformats.org/drawingml/2006/main">
            <a:off x="800100" y="2476500"/>
            <a:ext cx="2876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Question → variable roles,</a:t>
            </a:r>
          </a:p>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design and structured plan</a:t>
            </a:r>
          </a:p>
        </p:txBody>
      </p:sp>
      <p:sp>
        <p:nvSpPr>
          <p:cNvPr id="9" name="">
            <a:extLst xmlns:a="http://schemas.openxmlformats.org/drawingml/2006/main">
              <a:ext uri="{FF2B5EF4-FFF2-40B4-BE49-F238E27FC236}">
                <a16:creationId xmlns:a16="http://schemas.microsoft.com/office/drawing/2014/main" id="{1F907B2A-1B90-41C1-9841-0AEC4050D8B8}"/>
              </a:ext>
            </a:extLst>
          </p:cNvPr>
          <p:cNvSpPr>
            <a:spLocks xmlns:a="http://schemas.openxmlformats.org/drawingml/2006/main" noGrp="1"/>
          </p:cNvSpPr>
          <p:nvPr/>
        </p:nvSpPr>
        <p:spPr>
          <a:xfrm xmlns:a="http://schemas.openxmlformats.org/drawingml/2006/main">
            <a:off x="4038600" y="2352675"/>
            <a:ext cx="45720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A19ED9-2614-49BF-8F7F-596C7893FE73}"/>
              </a:ext>
            </a:extLst>
          </p:cNvPr>
          <p:cNvSpPr>
            <a:spLocks xmlns:a="http://schemas.openxmlformats.org/drawingml/2006/main" noGrp="1"/>
          </p:cNvSpPr>
          <p:nvPr/>
        </p:nvSpPr>
        <p:spPr>
          <a:xfrm xmlns:a="http://schemas.openxmlformats.org/drawingml/2006/main">
            <a:off x="4648200" y="1876425"/>
            <a:ext cx="2886075" cy="1257300"/>
          </a:xfrm>
          <a:prstGeom xmlns:a="http://schemas.openxmlformats.org/drawingml/2006/main" prst="rect">
            <a:avLst/>
          </a:prstGeom>
          <a:solidFill xmlns:a="http://schemas.openxmlformats.org/drawingml/2006/main">
            <a:srgbClr val="E9EE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FC03B4-D0FC-4C3F-A664-9194500637B9}"/>
              </a:ext>
            </a:extLst>
          </p:cNvPr>
          <p:cNvSpPr>
            <a:spLocks xmlns:a="http://schemas.openxmlformats.org/drawingml/2006/main" noGrp="1"/>
          </p:cNvSpPr>
          <p:nvPr/>
        </p:nvSpPr>
        <p:spPr>
          <a:xfrm xmlns:a="http://schemas.openxmlformats.org/drawingml/2006/main">
            <a:off x="4829175" y="2009775"/>
            <a:ext cx="252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defRPr sz="2250" b="1">
                <a:solidFill>
                  <a:srgbClr val="183D36"/>
                </a:solidFill>
                <a:latin typeface="Calibri"/>
                <a:ea typeface="Calibri"/>
                <a:cs typeface="Calibri"/>
              </a:defRPr>
            </a:pPr>
            <a:r>
              <a:rPr sz="2250" b="1">
                <a:solidFill>
                  <a:srgbClr val="183D36"/>
                </a:solidFill>
                <a:latin typeface="Calibri"/>
                <a:ea typeface="Calibri"/>
                <a:cs typeface="Calibri"/>
              </a:rPr>
              <a:t>Tools  /  Python</a:t>
            </a:r>
          </a:p>
        </p:txBody>
      </p:sp>
      <p:sp>
        <p:nvSpPr>
          <p:cNvPr id="12" name="">
            <a:extLst xmlns:a="http://schemas.openxmlformats.org/drawingml/2006/main">
              <a:ext uri="{FF2B5EF4-FFF2-40B4-BE49-F238E27FC236}">
                <a16:creationId xmlns:a16="http://schemas.microsoft.com/office/drawing/2014/main" id="{7BB7A358-0C54-4AB5-A9C0-08A198AD4304}"/>
              </a:ext>
            </a:extLst>
          </p:cNvPr>
          <p:cNvSpPr>
            <a:spLocks xmlns:a="http://schemas.openxmlformats.org/drawingml/2006/main" noGrp="1"/>
          </p:cNvSpPr>
          <p:nvPr/>
        </p:nvSpPr>
        <p:spPr>
          <a:xfrm xmlns:a="http://schemas.openxmlformats.org/drawingml/2006/main">
            <a:off x="4829175" y="2476500"/>
            <a:ext cx="2543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Rules + diagnostics</a:t>
            </a:r>
          </a:p>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SciPy calculations</a:t>
            </a:r>
          </a:p>
        </p:txBody>
      </p:sp>
      <p:sp>
        <p:nvSpPr>
          <p:cNvPr id="13" name="">
            <a:extLst xmlns:a="http://schemas.openxmlformats.org/drawingml/2006/main">
              <a:ext uri="{FF2B5EF4-FFF2-40B4-BE49-F238E27FC236}">
                <a16:creationId xmlns:a16="http://schemas.microsoft.com/office/drawing/2014/main" id="{C0E1AA79-7951-4F65-92F1-D5BE2BDFBB57}"/>
              </a:ext>
            </a:extLst>
          </p:cNvPr>
          <p:cNvSpPr>
            <a:spLocks xmlns:a="http://schemas.openxmlformats.org/drawingml/2006/main" noGrp="1"/>
          </p:cNvSpPr>
          <p:nvPr/>
        </p:nvSpPr>
        <p:spPr>
          <a:xfrm xmlns:a="http://schemas.openxmlformats.org/drawingml/2006/main">
            <a:off x="7715250" y="2352675"/>
            <a:ext cx="45720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E8F48ED-029E-4BFD-B076-1337E46DD02A}"/>
              </a:ext>
            </a:extLst>
          </p:cNvPr>
          <p:cNvSpPr>
            <a:spLocks xmlns:a="http://schemas.openxmlformats.org/drawingml/2006/main" noGrp="1"/>
          </p:cNvSpPr>
          <p:nvPr/>
        </p:nvSpPr>
        <p:spPr>
          <a:xfrm xmlns:a="http://schemas.openxmlformats.org/drawingml/2006/main">
            <a:off x="8334375" y="1876425"/>
            <a:ext cx="3248025" cy="1257300"/>
          </a:xfrm>
          <a:prstGeom xmlns:a="http://schemas.openxmlformats.org/drawingml/2006/main" prst="rect">
            <a:avLst/>
          </a:prstGeom>
          <a:solidFill xmlns:a="http://schemas.openxmlformats.org/drawingml/2006/main">
            <a:srgbClr val="E9E7F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4A24AE-5579-4E3C-9EBF-FFEC9EC48069}"/>
              </a:ext>
            </a:extLst>
          </p:cNvPr>
          <p:cNvSpPr>
            <a:spLocks xmlns:a="http://schemas.openxmlformats.org/drawingml/2006/main" noGrp="1"/>
          </p:cNvSpPr>
          <p:nvPr/>
        </p:nvSpPr>
        <p:spPr>
          <a:xfrm xmlns:a="http://schemas.openxmlformats.org/drawingml/2006/main">
            <a:off x="8524875" y="2009775"/>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defRPr sz="2250" b="1">
                <a:solidFill>
                  <a:srgbClr val="183D36"/>
                </a:solidFill>
                <a:latin typeface="Calibri"/>
                <a:ea typeface="Calibri"/>
                <a:cs typeface="Calibri"/>
              </a:defRPr>
            </a:pPr>
            <a:r>
              <a:rPr sz="2250" b="1">
                <a:solidFill>
                  <a:srgbClr val="183D36"/>
                </a:solidFill>
                <a:latin typeface="Calibri"/>
                <a:ea typeface="Calibri"/>
                <a:cs typeface="Calibri"/>
              </a:rPr>
              <a:t>Interpreter  /  LLM</a:t>
            </a:r>
          </a:p>
        </p:txBody>
      </p:sp>
      <p:sp>
        <p:nvSpPr>
          <p:cNvPr id="16" name="">
            <a:extLst xmlns:a="http://schemas.openxmlformats.org/drawingml/2006/main">
              <a:ext uri="{FF2B5EF4-FFF2-40B4-BE49-F238E27FC236}">
                <a16:creationId xmlns:a16="http://schemas.microsoft.com/office/drawing/2014/main" id="{501B0EF9-37B9-4E46-B7F5-BF11B538C110}"/>
              </a:ext>
            </a:extLst>
          </p:cNvPr>
          <p:cNvSpPr>
            <a:spLocks xmlns:a="http://schemas.openxmlformats.org/drawingml/2006/main" noGrp="1"/>
          </p:cNvSpPr>
          <p:nvPr/>
        </p:nvSpPr>
        <p:spPr>
          <a:xfrm xmlns:a="http://schemas.openxmlformats.org/drawingml/2006/main">
            <a:off x="8524875" y="2476500"/>
            <a:ext cx="28670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Plan + results + warnings</a:t>
            </a:r>
          </a:p>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 cautious explanation</a:t>
            </a:r>
          </a:p>
        </p:txBody>
      </p:sp>
      <p:sp>
        <p:nvSpPr>
          <p:cNvPr id="17" name="">
            <a:extLst xmlns:a="http://schemas.openxmlformats.org/drawingml/2006/main">
              <a:ext uri="{FF2B5EF4-FFF2-40B4-BE49-F238E27FC236}">
                <a16:creationId xmlns:a16="http://schemas.microsoft.com/office/drawing/2014/main" id="{AA38B787-9497-4D3F-81F3-47A3873A88B6}"/>
              </a:ext>
            </a:extLst>
          </p:cNvPr>
          <p:cNvSpPr>
            <a:spLocks xmlns:a="http://schemas.openxmlformats.org/drawingml/2006/main" noGrp="1"/>
          </p:cNvSpPr>
          <p:nvPr/>
        </p:nvSpPr>
        <p:spPr>
          <a:xfrm xmlns:a="http://schemas.openxmlformats.org/drawingml/2006/main">
            <a:off x="609600" y="3581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D36"/>
                </a:solidFill>
                <a:latin typeface="Calibri"/>
                <a:ea typeface="Calibri"/>
                <a:cs typeface="Calibri"/>
              </a:defRPr>
            </a:defPPr>
          </a:lstStyle>
          <a:p xmlns:a="http://schemas.openxmlformats.org/drawingml/2006/main">
            <a:pPr>
              <a:defRPr sz="2025" b="1">
                <a:solidFill>
                  <a:srgbClr val="183D36"/>
                </a:solidFill>
                <a:latin typeface="Calibri"/>
                <a:ea typeface="Calibri"/>
                <a:cs typeface="Calibri"/>
              </a:defRPr>
            </a:pPr>
            <a:r>
              <a:rPr sz="2025" b="1">
                <a:solidFill>
                  <a:srgbClr val="183D36"/>
                </a:solidFill>
                <a:latin typeface="Calibri"/>
                <a:ea typeface="Calibri"/>
                <a:cs typeface="Calibri"/>
              </a:rPr>
              <a:t>Ambiguous design?</a:t>
            </a:r>
          </a:p>
        </p:txBody>
      </p:sp>
      <p:sp>
        <p:nvSpPr>
          <p:cNvPr id="18" name="">
            <a:extLst xmlns:a="http://schemas.openxmlformats.org/drawingml/2006/main">
              <a:ext uri="{FF2B5EF4-FFF2-40B4-BE49-F238E27FC236}">
                <a16:creationId xmlns:a16="http://schemas.microsoft.com/office/drawing/2014/main" id="{850D3F2B-E4BB-40F5-BE0B-A3C0DDE24E25}"/>
              </a:ext>
            </a:extLst>
          </p:cNvPr>
          <p:cNvSpPr>
            <a:spLocks xmlns:a="http://schemas.openxmlformats.org/drawingml/2006/main" noGrp="1"/>
          </p:cNvSpPr>
          <p:nvPr/>
        </p:nvSpPr>
        <p:spPr>
          <a:xfrm xmlns:a="http://schemas.openxmlformats.org/drawingml/2006/main">
            <a:off x="609600" y="4038600"/>
            <a:ext cx="3343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Pause → user clarification</a:t>
            </a:r>
          </a:p>
        </p:txBody>
      </p:sp>
      <p:sp>
        <p:nvSpPr>
          <p:cNvPr id="19" name="">
            <a:extLst xmlns:a="http://schemas.openxmlformats.org/drawingml/2006/main">
              <a:ext uri="{FF2B5EF4-FFF2-40B4-BE49-F238E27FC236}">
                <a16:creationId xmlns:a16="http://schemas.microsoft.com/office/drawing/2014/main" id="{B424278F-456A-43BD-A327-045D04923505}"/>
              </a:ext>
            </a:extLst>
          </p:cNvPr>
          <p:cNvSpPr>
            <a:spLocks xmlns:a="http://schemas.openxmlformats.org/drawingml/2006/main" noGrp="1"/>
          </p:cNvSpPr>
          <p:nvPr/>
        </p:nvSpPr>
        <p:spPr>
          <a:xfrm xmlns:a="http://schemas.openxmlformats.org/drawingml/2006/main">
            <a:off x="4648200" y="3581400"/>
            <a:ext cx="3343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D36"/>
                </a:solidFill>
                <a:latin typeface="Calibri"/>
                <a:ea typeface="Calibri"/>
                <a:cs typeface="Calibri"/>
              </a:defRPr>
            </a:defPPr>
          </a:lstStyle>
          <a:p xmlns:a="http://schemas.openxmlformats.org/drawingml/2006/main">
            <a:pPr>
              <a:defRPr sz="2025" b="1">
                <a:solidFill>
                  <a:srgbClr val="183D36"/>
                </a:solidFill>
                <a:latin typeface="Calibri"/>
                <a:ea typeface="Calibri"/>
                <a:cs typeface="Calibri"/>
              </a:defRPr>
            </a:pPr>
            <a:r>
              <a:rPr sz="2025" b="1">
                <a:solidFill>
                  <a:srgbClr val="183D36"/>
                </a:solidFill>
                <a:latin typeface="Calibri"/>
                <a:ea typeface="Calibri"/>
                <a:cs typeface="Calibri"/>
              </a:rPr>
              <a:t>Unsupported or invalid?</a:t>
            </a:r>
          </a:p>
        </p:txBody>
      </p:sp>
      <p:sp>
        <p:nvSpPr>
          <p:cNvPr id="20" name="">
            <a:extLst xmlns:a="http://schemas.openxmlformats.org/drawingml/2006/main">
              <a:ext uri="{FF2B5EF4-FFF2-40B4-BE49-F238E27FC236}">
                <a16:creationId xmlns:a16="http://schemas.microsoft.com/office/drawing/2014/main" id="{0AB10A83-4053-4BC6-B254-C9AC630C403C}"/>
              </a:ext>
            </a:extLst>
          </p:cNvPr>
          <p:cNvSpPr>
            <a:spLocks xmlns:a="http://schemas.openxmlformats.org/drawingml/2006/main" noGrp="1"/>
          </p:cNvSpPr>
          <p:nvPr/>
        </p:nvSpPr>
        <p:spPr>
          <a:xfrm xmlns:a="http://schemas.openxmlformats.org/drawingml/2006/main">
            <a:off x="4648200" y="403860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Stop and report the issue</a:t>
            </a:r>
          </a:p>
        </p:txBody>
      </p:sp>
      <p:sp>
        <p:nvSpPr>
          <p:cNvPr id="21" name="">
            <a:extLst xmlns:a="http://schemas.openxmlformats.org/drawingml/2006/main">
              <a:ext uri="{FF2B5EF4-FFF2-40B4-BE49-F238E27FC236}">
                <a16:creationId xmlns:a16="http://schemas.microsoft.com/office/drawing/2014/main" id="{071FC960-CE7D-4A21-84BE-41CE9D454601}"/>
              </a:ext>
            </a:extLst>
          </p:cNvPr>
          <p:cNvSpPr>
            <a:spLocks xmlns:a="http://schemas.openxmlformats.org/drawingml/2006/main" noGrp="1"/>
          </p:cNvSpPr>
          <p:nvPr/>
        </p:nvSpPr>
        <p:spPr>
          <a:xfrm xmlns:a="http://schemas.openxmlformats.org/drawingml/2006/main">
            <a:off x="8334375" y="3581400"/>
            <a:ext cx="3248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D36"/>
                </a:solidFill>
                <a:latin typeface="Calibri"/>
                <a:ea typeface="Calibri"/>
                <a:cs typeface="Calibri"/>
              </a:defRPr>
            </a:defPPr>
          </a:lstStyle>
          <a:p xmlns:a="http://schemas.openxmlformats.org/drawingml/2006/main">
            <a:pPr>
              <a:defRPr sz="2025" b="1">
                <a:solidFill>
                  <a:srgbClr val="183D36"/>
                </a:solidFill>
                <a:latin typeface="Calibri"/>
                <a:ea typeface="Calibri"/>
                <a:cs typeface="Calibri"/>
              </a:defRPr>
            </a:pPr>
            <a:r>
              <a:rPr sz="2025" b="1">
                <a:solidFill>
                  <a:srgbClr val="183D36"/>
                </a:solidFill>
                <a:latin typeface="Calibri"/>
                <a:ea typeface="Calibri"/>
                <a:cs typeface="Calibri"/>
              </a:rPr>
              <a:t>Text check fails?</a:t>
            </a:r>
          </a:p>
        </p:txBody>
      </p:sp>
      <p:sp>
        <p:nvSpPr>
          <p:cNvPr id="22" name="">
            <a:extLst xmlns:a="http://schemas.openxmlformats.org/drawingml/2006/main">
              <a:ext uri="{FF2B5EF4-FFF2-40B4-BE49-F238E27FC236}">
                <a16:creationId xmlns:a16="http://schemas.microsoft.com/office/drawing/2014/main" id="{91305479-CD04-43C0-834B-9C1195A3480D}"/>
              </a:ext>
            </a:extLst>
          </p:cNvPr>
          <p:cNvSpPr>
            <a:spLocks xmlns:a="http://schemas.openxmlformats.org/drawingml/2006/main" noGrp="1"/>
          </p:cNvSpPr>
          <p:nvPr/>
        </p:nvSpPr>
        <p:spPr>
          <a:xfrm xmlns:a="http://schemas.openxmlformats.org/drawingml/2006/main">
            <a:off x="8334375" y="4038600"/>
            <a:ext cx="32480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Rewrite once; otherwise withhold</a:t>
            </a:r>
          </a:p>
        </p:txBody>
      </p:sp>
      <p:sp>
        <p:nvSpPr>
          <p:cNvPr id="23" name="">
            <a:extLst xmlns:a="http://schemas.openxmlformats.org/drawingml/2006/main">
              <a:ext uri="{FF2B5EF4-FFF2-40B4-BE49-F238E27FC236}">
                <a16:creationId xmlns:a16="http://schemas.microsoft.com/office/drawing/2014/main" id="{97120DA5-A099-448E-A50D-1B3EACF9365B}"/>
              </a:ext>
            </a:extLst>
          </p:cNvPr>
          <p:cNvSpPr>
            <a:spLocks xmlns:a="http://schemas.openxmlformats.org/drawingml/2006/main" noGrp="1"/>
          </p:cNvSpPr>
          <p:nvPr/>
        </p:nvSpPr>
        <p:spPr>
          <a:xfrm xmlns:a="http://schemas.openxmlformats.org/drawingml/2006/main">
            <a:off x="609600" y="5133975"/>
            <a:ext cx="10972800" cy="6477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4CE7CB2-552B-45F8-9B9D-56FC4878DC03}"/>
              </a:ext>
            </a:extLst>
          </p:cNvPr>
          <p:cNvSpPr>
            <a:spLocks xmlns:a="http://schemas.openxmlformats.org/drawingml/2006/main" noGrp="1"/>
          </p:cNvSpPr>
          <p:nvPr/>
        </p:nvSpPr>
        <p:spPr>
          <a:xfrm xmlns:a="http://schemas.openxmlformats.org/drawingml/2006/main">
            <a:off x="800100" y="52863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Calibri"/>
                <a:ea typeface="Calibri"/>
                <a:cs typeface="Calibri"/>
              </a:defRPr>
            </a:defPPr>
          </a:lstStyle>
          <a:p xmlns:a="http://schemas.openxmlformats.org/drawingml/2006/main">
            <a:pPr>
              <a:defRPr sz="1950" b="0">
                <a:solidFill>
                  <a:srgbClr val="FFFFFF"/>
                </a:solidFill>
                <a:latin typeface="Calibri"/>
                <a:ea typeface="Calibri"/>
                <a:cs typeface="Calibri"/>
              </a:defRPr>
            </a:pPr>
            <a:r>
              <a:rPr sz="1950" b="0">
                <a:solidFill>
                  <a:srgbClr val="FFFFFF"/>
                </a:solidFill>
                <a:latin typeface="Calibri"/>
                <a:ea typeface="Calibri"/>
                <a:cs typeface="Calibri"/>
              </a:rPr>
              <a:t>Why this split?  Language needs an LLM; rules and arithmetic need reproducible code.</a:t>
            </a:r>
          </a:p>
        </p:txBody>
      </p:sp>
    </p:spTree>
    <p:extLst>
      <p:ext uri="{BB962C8B-B14F-4D97-AF65-F5344CB8AC3E}">
        <p14:creationId xmlns:p14="http://schemas.microsoft.com/office/powerpoint/2010/main" val="1897359595"/>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D86D122-9F2C-4A55-AECC-CBABF7C7A951}"/>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217D1154-27F2-4A5A-9067-29A9B3081BF2}"/>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defRPr sz="3225" b="1">
                <a:solidFill>
                  <a:srgbClr val="183D36"/>
                </a:solidFill>
                <a:latin typeface="Calibri"/>
                <a:ea typeface="Calibri"/>
                <a:cs typeface="Calibri"/>
              </a:defRPr>
            </a:pPr>
            <a:r>
              <a:rPr sz="3225" b="1">
                <a:solidFill>
                  <a:srgbClr val="183D36"/>
                </a:solidFill>
                <a:latin typeface="Calibri"/>
                <a:ea typeface="Calibri"/>
                <a:cs typeface="Calibri"/>
              </a:rPr>
              <a:t>Walkthrough: treatment versus control</a:t>
            </a:r>
          </a:p>
        </p:txBody>
      </p:sp>
      <p:sp>
        <p:nvSpPr>
          <p:cNvPr id="3" name="">
            <a:extLst xmlns:a="http://schemas.openxmlformats.org/drawingml/2006/main">
              <a:ext uri="{FF2B5EF4-FFF2-40B4-BE49-F238E27FC236}">
                <a16:creationId xmlns:a16="http://schemas.microsoft.com/office/drawing/2014/main" id="{F8445F8A-4326-447A-923E-B3D69510F05C}"/>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0A4DE1-F08F-4DC6-AEF2-0B2E43667919}"/>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Agentic Statistical Analysis Assistant</a:t>
            </a:r>
          </a:p>
        </p:txBody>
      </p:sp>
      <p:sp>
        <p:nvSpPr>
          <p:cNvPr id="5" name="">
            <a:extLst xmlns:a="http://schemas.openxmlformats.org/drawingml/2006/main">
              <a:ext uri="{FF2B5EF4-FFF2-40B4-BE49-F238E27FC236}">
                <a16:creationId xmlns:a16="http://schemas.microsoft.com/office/drawing/2014/main" id="{C857608A-FB29-4516-AE7F-7C8930F4B1B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3 / 5</a:t>
            </a:r>
          </a:p>
        </p:txBody>
      </p:sp>
      <p:sp>
        <p:nvSpPr>
          <p:cNvPr id="6" name="">
            <a:extLst xmlns:a="http://schemas.openxmlformats.org/drawingml/2006/main">
              <a:ext uri="{FF2B5EF4-FFF2-40B4-BE49-F238E27FC236}">
                <a16:creationId xmlns:a16="http://schemas.microsoft.com/office/drawing/2014/main" id="{29994712-BACB-40AA-B20A-D9A40450CF63}"/>
              </a:ext>
            </a:extLst>
          </p:cNvPr>
          <p:cNvSpPr>
            <a:spLocks xmlns:a="http://schemas.openxmlformats.org/drawingml/2006/main" noGrp="1"/>
          </p:cNvSpPr>
          <p:nvPr/>
        </p:nvSpPr>
        <p:spPr>
          <a:xfrm xmlns:a="http://schemas.openxmlformats.org/drawingml/2006/main">
            <a:off x="609600" y="17621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D5036"/>
                </a:solidFill>
                <a:latin typeface="Calibri"/>
                <a:ea typeface="Calibri"/>
                <a:cs typeface="Calibri"/>
              </a:defRPr>
            </a:defPPr>
          </a:lstStyle>
          <a:p xmlns:a="http://schemas.openxmlformats.org/drawingml/2006/main">
            <a:pPr>
              <a:defRPr sz="1950" b="1">
                <a:solidFill>
                  <a:srgbClr val="BD5036"/>
                </a:solidFill>
                <a:latin typeface="Calibri"/>
                <a:ea typeface="Calibri"/>
                <a:cs typeface="Calibri"/>
              </a:defRPr>
            </a:pPr>
            <a:r>
              <a:rPr sz="1950" b="1">
                <a:solidFill>
                  <a:srgbClr val="BD5036"/>
                </a:solidFill>
                <a:latin typeface="Calibri"/>
                <a:ea typeface="Calibri"/>
                <a:cs typeface="Calibri"/>
              </a:rPr>
              <a:t>INPUT  /  50 synthetic observations, 25 per group</a:t>
            </a:r>
          </a:p>
        </p:txBody>
      </p:sp>
      <p:sp>
        <p:nvSpPr>
          <p:cNvPr id="7" name="">
            <a:extLst xmlns:a="http://schemas.openxmlformats.org/drawingml/2006/main">
              <a:ext uri="{FF2B5EF4-FFF2-40B4-BE49-F238E27FC236}">
                <a16:creationId xmlns:a16="http://schemas.microsoft.com/office/drawing/2014/main" id="{0C0F7BEC-4210-4EE9-AC31-2E5012A4AF06}"/>
              </a:ext>
            </a:extLst>
          </p:cNvPr>
          <p:cNvSpPr>
            <a:spLocks xmlns:a="http://schemas.openxmlformats.org/drawingml/2006/main" noGrp="1"/>
          </p:cNvSpPr>
          <p:nvPr/>
        </p:nvSpPr>
        <p:spPr>
          <a:xfrm xmlns:a="http://schemas.openxmlformats.org/drawingml/2006/main">
            <a:off x="609600" y="21907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defRPr sz="2250" b="1">
                <a:solidFill>
                  <a:srgbClr val="183D36"/>
                </a:solidFill>
                <a:latin typeface="Calibri"/>
                <a:ea typeface="Calibri"/>
                <a:cs typeface="Calibri"/>
              </a:defRPr>
            </a:pPr>
            <a:r>
              <a:rPr sz="2250" b="1">
                <a:solidFill>
                  <a:srgbClr val="183D36"/>
                </a:solidFill>
                <a:latin typeface="Calibri"/>
                <a:ea typeface="Calibri"/>
                <a:cs typeface="Calibri"/>
              </a:rPr>
              <a:t>“Compare mean outcome between treatment and control.”</a:t>
            </a:r>
          </a:p>
        </p:txBody>
      </p:sp>
      <p:sp>
        <p:nvSpPr>
          <p:cNvPr id="8" name="">
            <a:extLst xmlns:a="http://schemas.openxmlformats.org/drawingml/2006/main">
              <a:ext uri="{FF2B5EF4-FFF2-40B4-BE49-F238E27FC236}">
                <a16:creationId xmlns:a16="http://schemas.microsoft.com/office/drawing/2014/main" id="{ED7F98FB-FBED-42CA-9569-CA6A9870B298}"/>
              </a:ext>
            </a:extLst>
          </p:cNvPr>
          <p:cNvSpPr>
            <a:spLocks xmlns:a="http://schemas.openxmlformats.org/drawingml/2006/main" noGrp="1"/>
          </p:cNvSpPr>
          <p:nvPr/>
        </p:nvSpPr>
        <p:spPr>
          <a:xfrm xmlns:a="http://schemas.openxmlformats.org/drawingml/2006/main">
            <a:off x="609600" y="2838450"/>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904851-1C80-4A9E-9B42-86D2C835D8DA}"/>
              </a:ext>
            </a:extLst>
          </p:cNvPr>
          <p:cNvSpPr>
            <a:spLocks xmlns:a="http://schemas.openxmlformats.org/drawingml/2006/main" noGrp="1"/>
          </p:cNvSpPr>
          <p:nvPr/>
        </p:nvSpPr>
        <p:spPr>
          <a:xfrm xmlns:a="http://schemas.openxmlformats.org/drawingml/2006/main">
            <a:off x="819150" y="2867025"/>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defRPr sz="1800" b="1">
                <a:solidFill>
                  <a:srgbClr val="183D36"/>
                </a:solidFill>
                <a:latin typeface="Calibri"/>
                <a:ea typeface="Calibri"/>
                <a:cs typeface="Calibri"/>
              </a:defRPr>
            </a:pPr>
            <a:r>
              <a:rPr sz="1800" b="1">
                <a:solidFill>
                  <a:srgbClr val="183D36"/>
                </a:solidFill>
                <a:latin typeface="Calibri"/>
                <a:ea typeface="Calibri"/>
                <a:cs typeface="Calibri"/>
              </a:rPr>
              <a:t>01  Planner</a:t>
            </a:r>
          </a:p>
        </p:txBody>
      </p:sp>
      <p:sp>
        <p:nvSpPr>
          <p:cNvPr id="10" name="">
            <a:extLst xmlns:a="http://schemas.openxmlformats.org/drawingml/2006/main">
              <a:ext uri="{FF2B5EF4-FFF2-40B4-BE49-F238E27FC236}">
                <a16:creationId xmlns:a16="http://schemas.microsoft.com/office/drawing/2014/main" id="{96E8AD41-B186-4BED-9F31-9B35A60DFE8A}"/>
              </a:ext>
            </a:extLst>
          </p:cNvPr>
          <p:cNvSpPr>
            <a:spLocks xmlns:a="http://schemas.openxmlformats.org/drawingml/2006/main" noGrp="1"/>
          </p:cNvSpPr>
          <p:nvPr/>
        </p:nvSpPr>
        <p:spPr>
          <a:xfrm xmlns:a="http://schemas.openxmlformats.org/drawingml/2006/main">
            <a:off x="3105150" y="2867025"/>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defRPr sz="1725" b="0">
                <a:solidFill>
                  <a:srgbClr val="183D36"/>
                </a:solidFill>
                <a:latin typeface="Calibri"/>
                <a:ea typeface="Calibri"/>
                <a:cs typeface="Calibri"/>
              </a:defRPr>
            </a:pPr>
            <a:r>
              <a:rPr sz="1725" b="0">
                <a:solidFill>
                  <a:srgbClr val="183D36"/>
                </a:solidFill>
                <a:latin typeface="Calibri"/>
                <a:ea typeface="Calibri"/>
                <a:cs typeface="Calibri"/>
              </a:rPr>
              <a:t>goal = difference; outcome = outcome; group = group</a:t>
            </a:r>
          </a:p>
        </p:txBody>
      </p:sp>
      <p:sp>
        <p:nvSpPr>
          <p:cNvPr id="11" name="">
            <a:extLst xmlns:a="http://schemas.openxmlformats.org/drawingml/2006/main">
              <a:ext uri="{FF2B5EF4-FFF2-40B4-BE49-F238E27FC236}">
                <a16:creationId xmlns:a16="http://schemas.microsoft.com/office/drawing/2014/main" id="{03D86929-554E-4A90-96C5-B9A0FA055526}"/>
              </a:ext>
            </a:extLst>
          </p:cNvPr>
          <p:cNvSpPr>
            <a:spLocks xmlns:a="http://schemas.openxmlformats.org/drawingml/2006/main" noGrp="1"/>
          </p:cNvSpPr>
          <p:nvPr/>
        </p:nvSpPr>
        <p:spPr>
          <a:xfrm xmlns:a="http://schemas.openxmlformats.org/drawingml/2006/main">
            <a:off x="609600" y="3400425"/>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0FB4F8-5D73-4F04-8932-F6BB7032C9DC}"/>
              </a:ext>
            </a:extLst>
          </p:cNvPr>
          <p:cNvSpPr>
            <a:spLocks xmlns:a="http://schemas.openxmlformats.org/drawingml/2006/main" noGrp="1"/>
          </p:cNvSpPr>
          <p:nvPr/>
        </p:nvSpPr>
        <p:spPr>
          <a:xfrm xmlns:a="http://schemas.openxmlformats.org/drawingml/2006/main">
            <a:off x="819150" y="3429000"/>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defRPr sz="1800" b="1">
                <a:solidFill>
                  <a:srgbClr val="183D36"/>
                </a:solidFill>
                <a:latin typeface="Calibri"/>
                <a:ea typeface="Calibri"/>
                <a:cs typeface="Calibri"/>
              </a:defRPr>
            </a:pPr>
            <a:r>
              <a:rPr sz="1800" b="1">
                <a:solidFill>
                  <a:srgbClr val="183D36"/>
                </a:solidFill>
                <a:latin typeface="Calibri"/>
                <a:ea typeface="Calibri"/>
                <a:cs typeface="Calibri"/>
              </a:rPr>
              <a:t>02  Clarification</a:t>
            </a:r>
          </a:p>
        </p:txBody>
      </p:sp>
      <p:sp>
        <p:nvSpPr>
          <p:cNvPr id="13" name="">
            <a:extLst xmlns:a="http://schemas.openxmlformats.org/drawingml/2006/main">
              <a:ext uri="{FF2B5EF4-FFF2-40B4-BE49-F238E27FC236}">
                <a16:creationId xmlns:a16="http://schemas.microsoft.com/office/drawing/2014/main" id="{01EAEE14-7604-4F0D-8438-DA4D8B4B216E}"/>
              </a:ext>
            </a:extLst>
          </p:cNvPr>
          <p:cNvSpPr>
            <a:spLocks xmlns:a="http://schemas.openxmlformats.org/drawingml/2006/main" noGrp="1"/>
          </p:cNvSpPr>
          <p:nvPr/>
        </p:nvSpPr>
        <p:spPr>
          <a:xfrm xmlns:a="http://schemas.openxmlformats.org/drawingml/2006/main">
            <a:off x="3105150" y="3429000"/>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defRPr sz="1725" b="0">
                <a:solidFill>
                  <a:srgbClr val="183D36"/>
                </a:solidFill>
                <a:latin typeface="Calibri"/>
                <a:ea typeface="Calibri"/>
                <a:cs typeface="Calibri"/>
              </a:defRPr>
            </a:pPr>
            <a:r>
              <a:rPr sz="1725" b="0">
                <a:solidFill>
                  <a:srgbClr val="183D36"/>
                </a:solidFill>
                <a:latin typeface="Calibri"/>
                <a:ea typeface="Calibri"/>
                <a:cs typeface="Calibri"/>
              </a:rPr>
              <a:t>Independent observations; observational study</a:t>
            </a:r>
          </a:p>
        </p:txBody>
      </p:sp>
      <p:sp>
        <p:nvSpPr>
          <p:cNvPr id="14" name="">
            <a:extLst xmlns:a="http://schemas.openxmlformats.org/drawingml/2006/main">
              <a:ext uri="{FF2B5EF4-FFF2-40B4-BE49-F238E27FC236}">
                <a16:creationId xmlns:a16="http://schemas.microsoft.com/office/drawing/2014/main" id="{1BAC898A-EA24-484B-8DE3-B9AB885A3E72}"/>
              </a:ext>
            </a:extLst>
          </p:cNvPr>
          <p:cNvSpPr>
            <a:spLocks xmlns:a="http://schemas.openxmlformats.org/drawingml/2006/main" noGrp="1"/>
          </p:cNvSpPr>
          <p:nvPr/>
        </p:nvSpPr>
        <p:spPr>
          <a:xfrm xmlns:a="http://schemas.openxmlformats.org/drawingml/2006/main">
            <a:off x="609600" y="3962400"/>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5FF22F-9DE3-43B7-8CCA-3D0E0871C05C}"/>
              </a:ext>
            </a:extLst>
          </p:cNvPr>
          <p:cNvSpPr>
            <a:spLocks xmlns:a="http://schemas.openxmlformats.org/drawingml/2006/main" noGrp="1"/>
          </p:cNvSpPr>
          <p:nvPr/>
        </p:nvSpPr>
        <p:spPr>
          <a:xfrm xmlns:a="http://schemas.openxmlformats.org/drawingml/2006/main">
            <a:off x="819150" y="3990975"/>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defRPr sz="1800" b="1">
                <a:solidFill>
                  <a:srgbClr val="183D36"/>
                </a:solidFill>
                <a:latin typeface="Calibri"/>
                <a:ea typeface="Calibri"/>
                <a:cs typeface="Calibri"/>
              </a:defRPr>
            </a:pPr>
            <a:r>
              <a:rPr sz="1800" b="1">
                <a:solidFill>
                  <a:srgbClr val="183D36"/>
                </a:solidFill>
                <a:latin typeface="Calibri"/>
                <a:ea typeface="Calibri"/>
                <a:cs typeface="Calibri"/>
              </a:rPr>
              <a:t>03  Rules + checks</a:t>
            </a:r>
          </a:p>
        </p:txBody>
      </p:sp>
      <p:sp>
        <p:nvSpPr>
          <p:cNvPr id="16" name="">
            <a:extLst xmlns:a="http://schemas.openxmlformats.org/drawingml/2006/main">
              <a:ext uri="{FF2B5EF4-FFF2-40B4-BE49-F238E27FC236}">
                <a16:creationId xmlns:a16="http://schemas.microsoft.com/office/drawing/2014/main" id="{BF3B052A-D31F-4183-97A7-3276B9D1D646}"/>
              </a:ext>
            </a:extLst>
          </p:cNvPr>
          <p:cNvSpPr>
            <a:spLocks xmlns:a="http://schemas.openxmlformats.org/drawingml/2006/main" noGrp="1"/>
          </p:cNvSpPr>
          <p:nvPr/>
        </p:nvSpPr>
        <p:spPr>
          <a:xfrm xmlns:a="http://schemas.openxmlformats.org/drawingml/2006/main">
            <a:off x="3105150" y="3990975"/>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defRPr sz="1725" b="0">
                <a:solidFill>
                  <a:srgbClr val="183D36"/>
                </a:solidFill>
                <a:latin typeface="Calibri"/>
                <a:ea typeface="Calibri"/>
                <a:cs typeface="Calibri"/>
              </a:defRPr>
            </a:pPr>
            <a:r>
              <a:rPr sz="1725" b="0">
                <a:solidFill>
                  <a:srgbClr val="183D36"/>
                </a:solidFill>
                <a:latin typeface="Calibri"/>
                <a:ea typeface="Calibri"/>
                <a:cs typeface="Calibri"/>
              </a:rPr>
              <a:t>Two groups + continuous outcome → Welch; n, missingness, skew / outliers</a:t>
            </a:r>
          </a:p>
        </p:txBody>
      </p:sp>
      <p:sp>
        <p:nvSpPr>
          <p:cNvPr id="17" name="">
            <a:extLst xmlns:a="http://schemas.openxmlformats.org/drawingml/2006/main">
              <a:ext uri="{FF2B5EF4-FFF2-40B4-BE49-F238E27FC236}">
                <a16:creationId xmlns:a16="http://schemas.microsoft.com/office/drawing/2014/main" id="{403BCE0F-CC21-48C5-A91C-0D376C22EEB4}"/>
              </a:ext>
            </a:extLst>
          </p:cNvPr>
          <p:cNvSpPr>
            <a:spLocks xmlns:a="http://schemas.openxmlformats.org/drawingml/2006/main" noGrp="1"/>
          </p:cNvSpPr>
          <p:nvPr/>
        </p:nvSpPr>
        <p:spPr>
          <a:xfrm xmlns:a="http://schemas.openxmlformats.org/drawingml/2006/main">
            <a:off x="609600" y="4524375"/>
            <a:ext cx="47625" cy="457200"/>
          </a:xfrm>
          <a:prstGeom xmlns:a="http://schemas.openxmlformats.org/drawingml/2006/main" prst="rect">
            <a:avLst/>
          </a:prstGeom>
          <a:solidFill xmlns:a="http://schemas.openxmlformats.org/drawingml/2006/main">
            <a:srgbClr val="BD50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A6748A1-8FC2-450E-8873-ECB0617E8A81}"/>
              </a:ext>
            </a:extLst>
          </p:cNvPr>
          <p:cNvSpPr>
            <a:spLocks xmlns:a="http://schemas.openxmlformats.org/drawingml/2006/main" noGrp="1"/>
          </p:cNvSpPr>
          <p:nvPr/>
        </p:nvSpPr>
        <p:spPr>
          <a:xfrm xmlns:a="http://schemas.openxmlformats.org/drawingml/2006/main">
            <a:off x="819150" y="4552950"/>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defRPr sz="1800" b="1">
                <a:solidFill>
                  <a:srgbClr val="183D36"/>
                </a:solidFill>
                <a:latin typeface="Calibri"/>
                <a:ea typeface="Calibri"/>
                <a:cs typeface="Calibri"/>
              </a:defRPr>
            </a:pPr>
            <a:r>
              <a:rPr sz="1800" b="1">
                <a:solidFill>
                  <a:srgbClr val="183D36"/>
                </a:solidFill>
                <a:latin typeface="Calibri"/>
                <a:ea typeface="Calibri"/>
                <a:cs typeface="Calibri"/>
              </a:rPr>
              <a:t>04  SciPy tool</a:t>
            </a:r>
          </a:p>
        </p:txBody>
      </p:sp>
      <p:sp>
        <p:nvSpPr>
          <p:cNvPr id="19" name="">
            <a:extLst xmlns:a="http://schemas.openxmlformats.org/drawingml/2006/main">
              <a:ext uri="{FF2B5EF4-FFF2-40B4-BE49-F238E27FC236}">
                <a16:creationId xmlns:a16="http://schemas.microsoft.com/office/drawing/2014/main" id="{C94F2BBC-2995-49B4-8EB5-A9CAF9F7B9B9}"/>
              </a:ext>
            </a:extLst>
          </p:cNvPr>
          <p:cNvSpPr>
            <a:spLocks xmlns:a="http://schemas.openxmlformats.org/drawingml/2006/main" noGrp="1"/>
          </p:cNvSpPr>
          <p:nvPr/>
        </p:nvSpPr>
        <p:spPr>
          <a:xfrm xmlns:a="http://schemas.openxmlformats.org/drawingml/2006/main">
            <a:off x="3105150" y="4552950"/>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defRPr sz="1725" b="0">
                <a:solidFill>
                  <a:srgbClr val="183D36"/>
                </a:solidFill>
                <a:latin typeface="Calibri"/>
                <a:ea typeface="Calibri"/>
                <a:cs typeface="Calibri"/>
              </a:defRPr>
            </a:pPr>
            <a:r>
              <a:rPr sz="1725" b="0">
                <a:solidFill>
                  <a:srgbClr val="183D36"/>
                </a:solidFill>
                <a:latin typeface="Calibri"/>
                <a:ea typeface="Calibri"/>
                <a:cs typeface="Calibri"/>
              </a:rPr>
              <a:t>Mean difference = 1.2532; 95% CI [0.8176, 1.6888]; p = 5.797e−7</a:t>
            </a:r>
          </a:p>
        </p:txBody>
      </p:sp>
      <p:sp>
        <p:nvSpPr>
          <p:cNvPr id="20" name="">
            <a:extLst xmlns:a="http://schemas.openxmlformats.org/drawingml/2006/main">
              <a:ext uri="{FF2B5EF4-FFF2-40B4-BE49-F238E27FC236}">
                <a16:creationId xmlns:a16="http://schemas.microsoft.com/office/drawing/2014/main" id="{9C12223E-9E9F-493E-B3AE-B9652CC0BE10}"/>
              </a:ext>
            </a:extLst>
          </p:cNvPr>
          <p:cNvSpPr>
            <a:spLocks xmlns:a="http://schemas.openxmlformats.org/drawingml/2006/main" noGrp="1"/>
          </p:cNvSpPr>
          <p:nvPr/>
        </p:nvSpPr>
        <p:spPr>
          <a:xfrm xmlns:a="http://schemas.openxmlformats.org/drawingml/2006/main">
            <a:off x="609600" y="5086350"/>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3F4592-ECDF-4357-870F-5BAF29CFC9A0}"/>
              </a:ext>
            </a:extLst>
          </p:cNvPr>
          <p:cNvSpPr>
            <a:spLocks xmlns:a="http://schemas.openxmlformats.org/drawingml/2006/main" noGrp="1"/>
          </p:cNvSpPr>
          <p:nvPr/>
        </p:nvSpPr>
        <p:spPr>
          <a:xfrm xmlns:a="http://schemas.openxmlformats.org/drawingml/2006/main">
            <a:off x="819150" y="5114925"/>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defRPr sz="1800" b="1">
                <a:solidFill>
                  <a:srgbClr val="183D36"/>
                </a:solidFill>
                <a:latin typeface="Calibri"/>
                <a:ea typeface="Calibri"/>
                <a:cs typeface="Calibri"/>
              </a:defRPr>
            </a:pPr>
            <a:r>
              <a:rPr sz="1800" b="1">
                <a:solidFill>
                  <a:srgbClr val="183D36"/>
                </a:solidFill>
                <a:latin typeface="Calibri"/>
                <a:ea typeface="Calibri"/>
                <a:cs typeface="Calibri"/>
              </a:rPr>
              <a:t>05  Interpretation</a:t>
            </a:r>
          </a:p>
        </p:txBody>
      </p:sp>
      <p:sp>
        <p:nvSpPr>
          <p:cNvPr id="22" name="">
            <a:extLst xmlns:a="http://schemas.openxmlformats.org/drawingml/2006/main">
              <a:ext uri="{FF2B5EF4-FFF2-40B4-BE49-F238E27FC236}">
                <a16:creationId xmlns:a16="http://schemas.microsoft.com/office/drawing/2014/main" id="{FD7F84F9-0626-43A2-9C64-DBEC8BCB8374}"/>
              </a:ext>
            </a:extLst>
          </p:cNvPr>
          <p:cNvSpPr>
            <a:spLocks xmlns:a="http://schemas.openxmlformats.org/drawingml/2006/main" noGrp="1"/>
          </p:cNvSpPr>
          <p:nvPr/>
        </p:nvSpPr>
        <p:spPr>
          <a:xfrm xmlns:a="http://schemas.openxmlformats.org/drawingml/2006/main">
            <a:off x="3105150" y="5114925"/>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defRPr sz="1725" b="0">
                <a:solidFill>
                  <a:srgbClr val="183D36"/>
                </a:solidFill>
                <a:latin typeface="Calibri"/>
                <a:ea typeface="Calibri"/>
                <a:cs typeface="Calibri"/>
              </a:defRPr>
            </a:pPr>
            <a:r>
              <a:rPr sz="1725" b="0">
                <a:solidFill>
                  <a:srgbClr val="183D36"/>
                </a:solidFill>
                <a:latin typeface="Calibri"/>
                <a:ea typeface="Calibri"/>
                <a:cs typeface="Calibri"/>
              </a:rPr>
              <a:t>Evidence of a group difference; no causal or practical-importance claim</a:t>
            </a:r>
          </a:p>
        </p:txBody>
      </p:sp>
      <p:sp>
        <p:nvSpPr>
          <p:cNvPr id="23" name="">
            <a:extLst xmlns:a="http://schemas.openxmlformats.org/drawingml/2006/main">
              <a:ext uri="{FF2B5EF4-FFF2-40B4-BE49-F238E27FC236}">
                <a16:creationId xmlns:a16="http://schemas.microsoft.com/office/drawing/2014/main" id="{F5CB88E8-6542-4F17-BA7C-73224771A3AE}"/>
              </a:ext>
            </a:extLst>
          </p:cNvPr>
          <p:cNvSpPr>
            <a:spLocks xmlns:a="http://schemas.openxmlformats.org/drawingml/2006/main" noGrp="1"/>
          </p:cNvSpPr>
          <p:nvPr/>
        </p:nvSpPr>
        <p:spPr>
          <a:xfrm xmlns:a="http://schemas.openxmlformats.org/drawingml/2006/main">
            <a:off x="609600" y="58578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BD5036"/>
                </a:solidFill>
                <a:latin typeface="Calibri"/>
                <a:ea typeface="Calibri"/>
                <a:cs typeface="Calibri"/>
              </a:defRPr>
            </a:defPPr>
          </a:lstStyle>
          <a:p xmlns:a="http://schemas.openxmlformats.org/drawingml/2006/main">
            <a:pPr>
              <a:defRPr sz="1725" b="1">
                <a:solidFill>
                  <a:srgbClr val="BD5036"/>
                </a:solidFill>
                <a:latin typeface="Calibri"/>
                <a:ea typeface="Calibri"/>
                <a:cs typeface="Calibri"/>
              </a:defRPr>
            </a:pPr>
            <a:r>
              <a:rPr sz="1725" b="1">
                <a:solidFill>
                  <a:srgbClr val="BD5036"/>
                </a:solidFill>
                <a:latin typeface="Calibri"/>
                <a:ea typeface="Calibri"/>
                <a:cs typeface="Calibri"/>
              </a:rPr>
              <a:t>Why not correlation?  The question compares group means, rather than two numerical variables.</a:t>
            </a:r>
          </a:p>
        </p:txBody>
      </p:sp>
    </p:spTree>
    <p:extLst>
      <p:ext uri="{BB962C8B-B14F-4D97-AF65-F5344CB8AC3E}">
        <p14:creationId xmlns:p14="http://schemas.microsoft.com/office/powerpoint/2010/main" val="5404808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84F1CA-98E6-42B6-953E-9F71E642566D}"/>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1E373DAE-A3C8-40B5-A1A3-67953C49081E}"/>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defRPr sz="3225" b="1">
                <a:solidFill>
                  <a:srgbClr val="183D36"/>
                </a:solidFill>
                <a:latin typeface="Calibri"/>
                <a:ea typeface="Calibri"/>
                <a:cs typeface="Calibri"/>
              </a:defRPr>
            </a:pPr>
            <a:r>
              <a:rPr sz="3225" b="1">
                <a:solidFill>
                  <a:srgbClr val="183D36"/>
                </a:solidFill>
                <a:latin typeface="Calibri"/>
                <a:ea typeface="Calibri"/>
                <a:cs typeface="Calibri"/>
              </a:rPr>
              <a:t>Follow-up: reuse intent, recompute changed data</a:t>
            </a:r>
          </a:p>
        </p:txBody>
      </p:sp>
      <p:sp>
        <p:nvSpPr>
          <p:cNvPr id="3" name="">
            <a:extLst xmlns:a="http://schemas.openxmlformats.org/drawingml/2006/main">
              <a:ext uri="{FF2B5EF4-FFF2-40B4-BE49-F238E27FC236}">
                <a16:creationId xmlns:a16="http://schemas.microsoft.com/office/drawing/2014/main" id="{76DEFC40-7870-4EEA-BACE-7B898A72E451}"/>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B290A1-B825-4AC1-9D84-436F90833B67}"/>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Agentic Statistical Analysis Assistant</a:t>
            </a:r>
          </a:p>
        </p:txBody>
      </p:sp>
      <p:sp>
        <p:nvSpPr>
          <p:cNvPr id="5" name="">
            <a:extLst xmlns:a="http://schemas.openxmlformats.org/drawingml/2006/main">
              <a:ext uri="{FF2B5EF4-FFF2-40B4-BE49-F238E27FC236}">
                <a16:creationId xmlns:a16="http://schemas.microsoft.com/office/drawing/2014/main" id="{B5CFF31A-098F-45A9-A406-30B2B5FB760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4 / 5</a:t>
            </a:r>
          </a:p>
        </p:txBody>
      </p:sp>
      <p:sp>
        <p:nvSpPr>
          <p:cNvPr id="6" name="">
            <a:extLst xmlns:a="http://schemas.openxmlformats.org/drawingml/2006/main">
              <a:ext uri="{FF2B5EF4-FFF2-40B4-BE49-F238E27FC236}">
                <a16:creationId xmlns:a16="http://schemas.microsoft.com/office/drawing/2014/main" id="{DCC1894B-B59C-40A2-A1BC-D334BCFA4A15}"/>
              </a:ext>
            </a:extLst>
          </p:cNvPr>
          <p:cNvSpPr>
            <a:spLocks xmlns:a="http://schemas.openxmlformats.org/drawingml/2006/main" noGrp="1"/>
          </p:cNvSpPr>
          <p:nvPr/>
        </p:nvSpPr>
        <p:spPr>
          <a:xfrm xmlns:a="http://schemas.openxmlformats.org/drawingml/2006/main">
            <a:off x="609600" y="1809750"/>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83D36"/>
                </a:solidFill>
                <a:latin typeface="Calibri"/>
                <a:ea typeface="Calibri"/>
                <a:cs typeface="Calibri"/>
              </a:defRPr>
            </a:defPPr>
          </a:lstStyle>
          <a:p xmlns:a="http://schemas.openxmlformats.org/drawingml/2006/main">
            <a:pPr>
              <a:defRPr sz="2475" b="1">
                <a:solidFill>
                  <a:srgbClr val="183D36"/>
                </a:solidFill>
                <a:latin typeface="Calibri"/>
                <a:ea typeface="Calibri"/>
                <a:cs typeface="Calibri"/>
              </a:defRPr>
            </a:pPr>
            <a:r>
              <a:rPr sz="2475" b="1">
                <a:solidFill>
                  <a:srgbClr val="183D36"/>
                </a:solidFill>
                <a:latin typeface="Calibri"/>
                <a:ea typeface="Calibri"/>
                <a:cs typeface="Calibri"/>
              </a:rPr>
              <a:t>“Explain the result.”</a:t>
            </a:r>
          </a:p>
        </p:txBody>
      </p:sp>
      <p:sp>
        <p:nvSpPr>
          <p:cNvPr id="7" name="">
            <a:extLst xmlns:a="http://schemas.openxmlformats.org/drawingml/2006/main">
              <a:ext uri="{FF2B5EF4-FFF2-40B4-BE49-F238E27FC236}">
                <a16:creationId xmlns:a16="http://schemas.microsoft.com/office/drawing/2014/main" id="{6A6DAC5E-92AF-4813-903A-A2108D2D4600}"/>
              </a:ext>
            </a:extLst>
          </p:cNvPr>
          <p:cNvSpPr>
            <a:spLocks xmlns:a="http://schemas.openxmlformats.org/drawingml/2006/main" noGrp="1"/>
          </p:cNvSpPr>
          <p:nvPr/>
        </p:nvSpPr>
        <p:spPr>
          <a:xfrm xmlns:a="http://schemas.openxmlformats.org/drawingml/2006/main">
            <a:off x="609600" y="2486025"/>
            <a:ext cx="4895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6"/>
                </a:solidFill>
                <a:latin typeface="Calibri"/>
                <a:ea typeface="Calibri"/>
                <a:cs typeface="Calibri"/>
              </a:defRPr>
            </a:defPPr>
          </a:lstStyle>
          <a:p xmlns:a="http://schemas.openxmlformats.org/drawingml/2006/main">
            <a:pPr>
              <a:defRPr sz="2100" b="0">
                <a:solidFill>
                  <a:srgbClr val="183D36"/>
                </a:solidFill>
                <a:latin typeface="Calibri"/>
                <a:ea typeface="Calibri"/>
                <a:cs typeface="Calibri"/>
              </a:defRPr>
            </a:pPr>
            <a:r>
              <a:rPr sz="2100" b="0">
                <a:solidFill>
                  <a:srgbClr val="183D36"/>
                </a:solidFill>
                <a:latin typeface="Calibri"/>
                <a:ea typeface="Calibri"/>
                <a:cs typeface="Calibri"/>
              </a:rPr>
              <a:t>Reuse the stored plan + statistics</a:t>
            </a:r>
          </a:p>
          <a:p xmlns:a="http://schemas.openxmlformats.org/drawingml/2006/main">
            <a:pPr>
              <a:defRPr sz="2100" b="0">
                <a:solidFill>
                  <a:srgbClr val="183D36"/>
                </a:solidFill>
                <a:latin typeface="Calibri"/>
                <a:ea typeface="Calibri"/>
                <a:cs typeface="Calibri"/>
              </a:defRPr>
            </a:pPr>
            <a:r>
              <a:rPr sz="2100" b="0">
                <a:solidFill>
                  <a:srgbClr val="183D36"/>
                </a:solidFill>
                <a:latin typeface="Calibri"/>
                <a:ea typeface="Calibri"/>
                <a:cs typeface="Calibri"/>
              </a:rPr>
              <a:t>Generate a new explanation</a:t>
            </a:r>
          </a:p>
          <a:p xmlns:a="http://schemas.openxmlformats.org/drawingml/2006/main">
            <a:pPr>
              <a:defRPr sz="2100" b="0">
                <a:solidFill>
                  <a:srgbClr val="183D36"/>
                </a:solidFill>
                <a:latin typeface="Calibri"/>
                <a:ea typeface="Calibri"/>
                <a:cs typeface="Calibri"/>
              </a:defRPr>
            </a:pPr>
            <a:r>
              <a:rPr sz="2100" b="0">
                <a:solidFill>
                  <a:srgbClr val="183D36"/>
                </a:solidFill>
                <a:latin typeface="Calibri"/>
                <a:ea typeface="Calibri"/>
                <a:cs typeface="Calibri"/>
              </a:rPr>
              <a:t>No statistical rerun</a:t>
            </a:r>
          </a:p>
        </p:txBody>
      </p:sp>
      <p:sp>
        <p:nvSpPr>
          <p:cNvPr id="8" name="">
            <a:extLst xmlns:a="http://schemas.openxmlformats.org/drawingml/2006/main">
              <a:ext uri="{FF2B5EF4-FFF2-40B4-BE49-F238E27FC236}">
                <a16:creationId xmlns:a16="http://schemas.microsoft.com/office/drawing/2014/main" id="{97C43EA7-6804-4E1E-A479-BC116E8E1FE3}"/>
              </a:ext>
            </a:extLst>
          </p:cNvPr>
          <p:cNvSpPr>
            <a:spLocks xmlns:a="http://schemas.openxmlformats.org/drawingml/2006/main" noGrp="1"/>
          </p:cNvSpPr>
          <p:nvPr/>
        </p:nvSpPr>
        <p:spPr>
          <a:xfrm xmlns:a="http://schemas.openxmlformats.org/drawingml/2006/main">
            <a:off x="6591300" y="1809750"/>
            <a:ext cx="4933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83D36"/>
                </a:solidFill>
                <a:latin typeface="Calibri"/>
                <a:ea typeface="Calibri"/>
                <a:cs typeface="Calibri"/>
              </a:defRPr>
            </a:defPPr>
          </a:lstStyle>
          <a:p xmlns:a="http://schemas.openxmlformats.org/drawingml/2006/main">
            <a:pPr>
              <a:defRPr sz="2475" b="1">
                <a:solidFill>
                  <a:srgbClr val="183D36"/>
                </a:solidFill>
                <a:latin typeface="Calibri"/>
                <a:ea typeface="Calibri"/>
                <a:cs typeface="Calibri"/>
              </a:defRPr>
            </a:pPr>
            <a:r>
              <a:rPr sz="2475" b="1">
                <a:solidFill>
                  <a:srgbClr val="183D36"/>
                </a:solidFill>
                <a:latin typeface="Calibri"/>
                <a:ea typeface="Calibri"/>
                <a:cs typeface="Calibri"/>
              </a:rPr>
              <a:t>“Repeat for 2025.”</a:t>
            </a:r>
          </a:p>
        </p:txBody>
      </p:sp>
      <p:sp>
        <p:nvSpPr>
          <p:cNvPr id="9" name="">
            <a:extLst xmlns:a="http://schemas.openxmlformats.org/drawingml/2006/main">
              <a:ext uri="{FF2B5EF4-FFF2-40B4-BE49-F238E27FC236}">
                <a16:creationId xmlns:a16="http://schemas.microsoft.com/office/drawing/2014/main" id="{12E6CB26-253E-4183-8191-273A27439D27}"/>
              </a:ext>
            </a:extLst>
          </p:cNvPr>
          <p:cNvSpPr>
            <a:spLocks xmlns:a="http://schemas.openxmlformats.org/drawingml/2006/main" noGrp="1"/>
          </p:cNvSpPr>
          <p:nvPr/>
        </p:nvSpPr>
        <p:spPr>
          <a:xfrm xmlns:a="http://schemas.openxmlformats.org/drawingml/2006/main">
            <a:off x="6591300" y="248602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6"/>
                </a:solidFill>
                <a:latin typeface="Calibri"/>
                <a:ea typeface="Calibri"/>
                <a:cs typeface="Calibri"/>
              </a:defRPr>
            </a:defPPr>
          </a:lstStyle>
          <a:p xmlns:a="http://schemas.openxmlformats.org/drawingml/2006/main">
            <a:pPr>
              <a:defRPr sz="2100" b="0">
                <a:solidFill>
                  <a:srgbClr val="183D36"/>
                </a:solidFill>
                <a:latin typeface="Calibri"/>
                <a:ea typeface="Calibri"/>
                <a:cs typeface="Calibri"/>
              </a:defRPr>
            </a:pPr>
            <a:r>
              <a:rPr sz="2100" b="0">
                <a:solidFill>
                  <a:srgbClr val="183D36"/>
                </a:solidFill>
                <a:latin typeface="Calibri"/>
                <a:ea typeface="Calibri"/>
                <a:cs typeface="Calibri"/>
              </a:rPr>
              <a:t>Reuse variable roles and confirmed design</a:t>
            </a:r>
          </a:p>
          <a:p xmlns:a="http://schemas.openxmlformats.org/drawingml/2006/main">
            <a:pPr>
              <a:defRPr sz="2100" b="0">
                <a:solidFill>
                  <a:srgbClr val="183D36"/>
                </a:solidFill>
                <a:latin typeface="Calibri"/>
                <a:ea typeface="Calibri"/>
                <a:cs typeface="Calibri"/>
              </a:defRPr>
            </a:pPr>
            <a:r>
              <a:rPr sz="2100" b="0">
                <a:solidFill>
                  <a:srgbClr val="183D36"/>
                </a:solidFill>
                <a:latin typeface="Calibri"/>
                <a:ea typeface="Calibri"/>
                <a:cs typeface="Calibri"/>
              </a:rPr>
              <a:t>Filter dates; rerun checks and statistics</a:t>
            </a:r>
          </a:p>
          <a:p xmlns:a="http://schemas.openxmlformats.org/drawingml/2006/main">
            <a:pPr>
              <a:defRPr sz="2100" b="0">
                <a:solidFill>
                  <a:srgbClr val="183D36"/>
                </a:solidFill>
                <a:latin typeface="Calibri"/>
                <a:ea typeface="Calibri"/>
                <a:cs typeface="Calibri"/>
              </a:defRPr>
            </a:pPr>
            <a:r>
              <a:rPr sz="2100" b="0">
                <a:solidFill>
                  <a:srgbClr val="183D36"/>
                </a:solidFill>
                <a:latin typeface="Calibri"/>
                <a:ea typeface="Calibri"/>
                <a:cs typeface="Calibri"/>
              </a:rPr>
              <a:t>20 rows → 10 rows; r 0.9929 → 0.9755</a:t>
            </a:r>
          </a:p>
        </p:txBody>
      </p:sp>
      <p:sp>
        <p:nvSpPr>
          <p:cNvPr id="10" name="">
            <a:extLst xmlns:a="http://schemas.openxmlformats.org/drawingml/2006/main">
              <a:ext uri="{FF2B5EF4-FFF2-40B4-BE49-F238E27FC236}">
                <a16:creationId xmlns:a16="http://schemas.microsoft.com/office/drawing/2014/main" id="{A5B51101-4E74-491A-8622-FB802820A44F}"/>
              </a:ext>
            </a:extLst>
          </p:cNvPr>
          <p:cNvSpPr>
            <a:spLocks xmlns:a="http://schemas.openxmlformats.org/drawingml/2006/main" noGrp="1"/>
          </p:cNvSpPr>
          <p:nvPr/>
        </p:nvSpPr>
        <p:spPr>
          <a:xfrm xmlns:a="http://schemas.openxmlformats.org/drawingml/2006/main">
            <a:off x="5953125" y="1800225"/>
            <a:ext cx="19050" cy="1971675"/>
          </a:xfrm>
          <a:prstGeom xmlns:a="http://schemas.openxmlformats.org/drawingml/2006/main" prst="rect">
            <a:avLst/>
          </a:prstGeom>
          <a:solidFill xmlns:a="http://schemas.openxmlformats.org/drawingml/2006/main">
            <a:srgbClr val="6576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070331-9EE5-4F30-9958-4BE5FB2F4E0B}"/>
              </a:ext>
            </a:extLst>
          </p:cNvPr>
          <p:cNvSpPr>
            <a:spLocks xmlns:a="http://schemas.openxmlformats.org/drawingml/2006/main" noGrp="1"/>
          </p:cNvSpPr>
          <p:nvPr/>
        </p:nvSpPr>
        <p:spPr>
          <a:xfrm xmlns:a="http://schemas.openxmlformats.org/drawingml/2006/main">
            <a:off x="609600" y="42672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BD5036"/>
                </a:solidFill>
                <a:latin typeface="Calibri"/>
                <a:ea typeface="Calibri"/>
                <a:cs typeface="Calibri"/>
              </a:defRPr>
            </a:defPPr>
          </a:lstStyle>
          <a:p xmlns:a="http://schemas.openxmlformats.org/drawingml/2006/main">
            <a:pPr>
              <a:defRPr sz="1500" b="1">
                <a:solidFill>
                  <a:srgbClr val="BD5036"/>
                </a:solidFill>
                <a:latin typeface="Calibri"/>
                <a:ea typeface="Calibri"/>
                <a:cs typeface="Calibri"/>
              </a:defRPr>
            </a:pPr>
            <a:r>
              <a:rPr sz="1500" b="1">
                <a:solidFill>
                  <a:srgbClr val="BD5036"/>
                </a:solidFill>
                <a:latin typeface="Calibri"/>
                <a:ea typeface="Calibri"/>
                <a:cs typeface="Calibri"/>
              </a:rPr>
              <a:t>EVALUATION EVIDENCE</a:t>
            </a:r>
          </a:p>
        </p:txBody>
      </p:sp>
      <p:sp>
        <p:nvSpPr>
          <p:cNvPr id="12" name="">
            <a:extLst xmlns:a="http://schemas.openxmlformats.org/drawingml/2006/main">
              <a:ext uri="{FF2B5EF4-FFF2-40B4-BE49-F238E27FC236}">
                <a16:creationId xmlns:a16="http://schemas.microsoft.com/office/drawing/2014/main" id="{F5DD0085-58D7-42DF-B04F-324B01324252}"/>
              </a:ext>
            </a:extLst>
          </p:cNvPr>
          <p:cNvSpPr>
            <a:spLocks xmlns:a="http://schemas.openxmlformats.org/drawingml/2006/main" noGrp="1"/>
          </p:cNvSpPr>
          <p:nvPr/>
        </p:nvSpPr>
        <p:spPr>
          <a:xfrm xmlns:a="http://schemas.openxmlformats.org/drawingml/2006/main">
            <a:off x="609600" y="4714875"/>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D36"/>
                </a:solidFill>
                <a:latin typeface="Calibri"/>
                <a:ea typeface="Calibri"/>
                <a:cs typeface="Calibri"/>
              </a:defRPr>
            </a:defPPr>
          </a:lstStyle>
          <a:p xmlns:a="http://schemas.openxmlformats.org/drawingml/2006/main">
            <a:pPr>
              <a:defRPr sz="2400" b="1">
                <a:solidFill>
                  <a:srgbClr val="183D36"/>
                </a:solidFill>
                <a:latin typeface="Calibri"/>
                <a:ea typeface="Calibri"/>
                <a:cs typeface="Calibri"/>
              </a:defRPr>
            </a:pPr>
            <a:r>
              <a:rPr sz="2400" b="1">
                <a:solidFill>
                  <a:srgbClr val="183D36"/>
                </a:solidFill>
                <a:latin typeface="Calibri"/>
                <a:ea typeface="Calibri"/>
                <a:cs typeface="Calibri"/>
              </a:rPr>
              <a:t>31 predefined cases</a:t>
            </a:r>
          </a:p>
        </p:txBody>
      </p:sp>
      <p:sp>
        <p:nvSpPr>
          <p:cNvPr id="13" name="">
            <a:extLst xmlns:a="http://schemas.openxmlformats.org/drawingml/2006/main">
              <a:ext uri="{FF2B5EF4-FFF2-40B4-BE49-F238E27FC236}">
                <a16:creationId xmlns:a16="http://schemas.microsoft.com/office/drawing/2014/main" id="{F2C86C8B-DE63-444F-A31E-E8116CBAF61D}"/>
              </a:ext>
            </a:extLst>
          </p:cNvPr>
          <p:cNvSpPr>
            <a:spLocks xmlns:a="http://schemas.openxmlformats.org/drawingml/2006/main" noGrp="1"/>
          </p:cNvSpPr>
          <p:nvPr/>
        </p:nvSpPr>
        <p:spPr>
          <a:xfrm xmlns:a="http://schemas.openxmlformats.org/drawingml/2006/main">
            <a:off x="609600" y="5210175"/>
            <a:ext cx="320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Normal, borderline,</a:t>
            </a:r>
          </a:p>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clarification, stop, follow-up</a:t>
            </a:r>
          </a:p>
        </p:txBody>
      </p:sp>
      <p:sp>
        <p:nvSpPr>
          <p:cNvPr id="14" name="">
            <a:extLst xmlns:a="http://schemas.openxmlformats.org/drawingml/2006/main">
              <a:ext uri="{FF2B5EF4-FFF2-40B4-BE49-F238E27FC236}">
                <a16:creationId xmlns:a16="http://schemas.microsoft.com/office/drawing/2014/main" id="{E4878342-7F5E-4F45-B98D-D0DE62A29AB5}"/>
              </a:ext>
            </a:extLst>
          </p:cNvPr>
          <p:cNvSpPr>
            <a:spLocks xmlns:a="http://schemas.openxmlformats.org/drawingml/2006/main" noGrp="1"/>
          </p:cNvSpPr>
          <p:nvPr/>
        </p:nvSpPr>
        <p:spPr>
          <a:xfrm xmlns:a="http://schemas.openxmlformats.org/drawingml/2006/main">
            <a:off x="4343400" y="4714875"/>
            <a:ext cx="2733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D36"/>
                </a:solidFill>
                <a:latin typeface="Calibri"/>
                <a:ea typeface="Calibri"/>
                <a:cs typeface="Calibri"/>
              </a:defRPr>
            </a:defPPr>
          </a:lstStyle>
          <a:p xmlns:a="http://schemas.openxmlformats.org/drawingml/2006/main">
            <a:pPr>
              <a:defRPr sz="2850" b="1">
                <a:solidFill>
                  <a:srgbClr val="183D36"/>
                </a:solidFill>
                <a:latin typeface="Calibri"/>
                <a:ea typeface="Calibri"/>
                <a:cs typeface="Calibri"/>
              </a:defRPr>
            </a:pPr>
            <a:r>
              <a:rPr sz="2850" b="1">
                <a:solidFill>
                  <a:srgbClr val="183D36"/>
                </a:solidFill>
                <a:latin typeface="Calibri"/>
                <a:ea typeface="Calibri"/>
                <a:cs typeface="Calibri"/>
              </a:rPr>
              <a:t>28 / 31</a:t>
            </a:r>
          </a:p>
        </p:txBody>
      </p:sp>
      <p:sp>
        <p:nvSpPr>
          <p:cNvPr id="15" name="">
            <a:extLst xmlns:a="http://schemas.openxmlformats.org/drawingml/2006/main">
              <a:ext uri="{FF2B5EF4-FFF2-40B4-BE49-F238E27FC236}">
                <a16:creationId xmlns:a16="http://schemas.microsoft.com/office/drawing/2014/main" id="{F2BA1B67-9377-4591-AA3C-FBF3338F47D6}"/>
              </a:ext>
            </a:extLst>
          </p:cNvPr>
          <p:cNvSpPr>
            <a:spLocks xmlns:a="http://schemas.openxmlformats.org/drawingml/2006/main" noGrp="1"/>
          </p:cNvSpPr>
          <p:nvPr/>
        </p:nvSpPr>
        <p:spPr>
          <a:xfrm xmlns:a="http://schemas.openxmlformats.org/drawingml/2006/main">
            <a:off x="4343400" y="5210175"/>
            <a:ext cx="2924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First live batch: strict</a:t>
            </a:r>
          </a:p>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mechanical checks passed</a:t>
            </a:r>
          </a:p>
        </p:txBody>
      </p:sp>
      <p:sp>
        <p:nvSpPr>
          <p:cNvPr id="16" name="">
            <a:extLst xmlns:a="http://schemas.openxmlformats.org/drawingml/2006/main">
              <a:ext uri="{FF2B5EF4-FFF2-40B4-BE49-F238E27FC236}">
                <a16:creationId xmlns:a16="http://schemas.microsoft.com/office/drawing/2014/main" id="{69DB2B67-F120-440E-AC89-74781E6A7555}"/>
              </a:ext>
            </a:extLst>
          </p:cNvPr>
          <p:cNvSpPr>
            <a:spLocks xmlns:a="http://schemas.openxmlformats.org/drawingml/2006/main" noGrp="1"/>
          </p:cNvSpPr>
          <p:nvPr/>
        </p:nvSpPr>
        <p:spPr>
          <a:xfrm xmlns:a="http://schemas.openxmlformats.org/drawingml/2006/main">
            <a:off x="8143875" y="47148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D36"/>
                </a:solidFill>
                <a:latin typeface="Calibri"/>
                <a:ea typeface="Calibri"/>
                <a:cs typeface="Calibri"/>
              </a:defRPr>
            </a:defPPr>
          </a:lstStyle>
          <a:p xmlns:a="http://schemas.openxmlformats.org/drawingml/2006/main">
            <a:pPr>
              <a:defRPr sz="2850" b="1">
                <a:solidFill>
                  <a:srgbClr val="183D36"/>
                </a:solidFill>
                <a:latin typeface="Calibri"/>
                <a:ea typeface="Calibri"/>
                <a:cs typeface="Calibri"/>
              </a:defRPr>
            </a:pPr>
            <a:r>
              <a:rPr sz="2850" b="1">
                <a:solidFill>
                  <a:srgbClr val="183D36"/>
                </a:solidFill>
                <a:latin typeface="Calibri"/>
                <a:ea typeface="Calibri"/>
                <a:cs typeface="Calibri"/>
              </a:rPr>
              <a:t>17 / 17</a:t>
            </a:r>
          </a:p>
        </p:txBody>
      </p:sp>
      <p:sp>
        <p:nvSpPr>
          <p:cNvPr id="17" name="">
            <a:extLst xmlns:a="http://schemas.openxmlformats.org/drawingml/2006/main">
              <a:ext uri="{FF2B5EF4-FFF2-40B4-BE49-F238E27FC236}">
                <a16:creationId xmlns:a16="http://schemas.microsoft.com/office/drawing/2014/main" id="{C76760F5-C03F-4B7E-82F0-A5404732E1CC}"/>
              </a:ext>
            </a:extLst>
          </p:cNvPr>
          <p:cNvSpPr>
            <a:spLocks xmlns:a="http://schemas.openxmlformats.org/drawingml/2006/main" noGrp="1"/>
          </p:cNvSpPr>
          <p:nvPr/>
        </p:nvSpPr>
        <p:spPr>
          <a:xfrm xmlns:a="http://schemas.openxmlformats.org/drawingml/2006/main">
            <a:off x="8143875" y="5210175"/>
            <a:ext cx="33432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Computed results matched</a:t>
            </a:r>
          </a:p>
          <a:p xmlns:a="http://schemas.openxmlformats.org/drawingml/2006/main">
            <a:pPr>
              <a:defRPr sz="1875" b="0">
                <a:solidFill>
                  <a:srgbClr val="183D36"/>
                </a:solidFill>
                <a:latin typeface="Calibri"/>
                <a:ea typeface="Calibri"/>
                <a:cs typeface="Calibri"/>
              </a:defRPr>
            </a:pPr>
            <a:r>
              <a:rPr sz="1875" b="0">
                <a:solidFill>
                  <a:srgbClr val="183D36"/>
                </a:solidFill>
                <a:latin typeface="Calibri"/>
                <a:ea typeface="Calibri"/>
                <a:cs typeface="Calibri"/>
              </a:rPr>
              <a:t>independent numerical references</a:t>
            </a:r>
          </a:p>
        </p:txBody>
      </p:sp>
    </p:spTree>
    <p:extLst>
      <p:ext uri="{BB962C8B-B14F-4D97-AF65-F5344CB8AC3E}">
        <p14:creationId xmlns:p14="http://schemas.microsoft.com/office/powerpoint/2010/main" val="170187268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FBA6F4-ED89-4132-AE32-C055BC95411F}"/>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690C8C8A-B0C8-441B-AE23-F05A6EC567FC}"/>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defRPr sz="3225" b="1">
                <a:solidFill>
                  <a:srgbClr val="183D36"/>
                </a:solidFill>
                <a:latin typeface="Calibri"/>
                <a:ea typeface="Calibri"/>
                <a:cs typeface="Calibri"/>
              </a:defRPr>
            </a:pPr>
            <a:r>
              <a:rPr sz="3225" b="1">
                <a:solidFill>
                  <a:srgbClr val="183D36"/>
                </a:solidFill>
                <a:latin typeface="Calibri"/>
                <a:ea typeface="Calibri"/>
                <a:cs typeface="Calibri"/>
              </a:rPr>
              <a:t>A real weakness: correct numbers, wrong meaning</a:t>
            </a:r>
          </a:p>
        </p:txBody>
      </p:sp>
      <p:sp>
        <p:nvSpPr>
          <p:cNvPr id="3" name="">
            <a:extLst xmlns:a="http://schemas.openxmlformats.org/drawingml/2006/main">
              <a:ext uri="{FF2B5EF4-FFF2-40B4-BE49-F238E27FC236}">
                <a16:creationId xmlns:a16="http://schemas.microsoft.com/office/drawing/2014/main" id="{8A852525-B496-47C7-ABFD-22E62AFD2998}"/>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C7786D-49CA-4035-A5B2-B6B333AC7EA0}"/>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Agentic Statistical Analysis Assistant</a:t>
            </a:r>
          </a:p>
        </p:txBody>
      </p:sp>
      <p:sp>
        <p:nvSpPr>
          <p:cNvPr id="5" name="">
            <a:extLst xmlns:a="http://schemas.openxmlformats.org/drawingml/2006/main">
              <a:ext uri="{FF2B5EF4-FFF2-40B4-BE49-F238E27FC236}">
                <a16:creationId xmlns:a16="http://schemas.microsoft.com/office/drawing/2014/main" id="{D66A27A1-1257-4D7F-9146-A5307158902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defRPr sz="1275" b="0">
                <a:solidFill>
                  <a:srgbClr val="65766F"/>
                </a:solidFill>
                <a:latin typeface="Calibri"/>
                <a:ea typeface="Calibri"/>
                <a:cs typeface="Calibri"/>
              </a:defRPr>
            </a:pPr>
            <a:r>
              <a:rPr sz="1275" b="0">
                <a:solidFill>
                  <a:srgbClr val="65766F"/>
                </a:solidFill>
                <a:latin typeface="Calibri"/>
                <a:ea typeface="Calibri"/>
                <a:cs typeface="Calibri"/>
              </a:rPr>
              <a:t>5 / 5</a:t>
            </a:r>
          </a:p>
        </p:txBody>
      </p:sp>
      <p:sp>
        <p:nvSpPr>
          <p:cNvPr id="6" name="">
            <a:extLst xmlns:a="http://schemas.openxmlformats.org/drawingml/2006/main">
              <a:ext uri="{FF2B5EF4-FFF2-40B4-BE49-F238E27FC236}">
                <a16:creationId xmlns:a16="http://schemas.microsoft.com/office/drawing/2014/main" id="{D6BFD200-8F6A-4053-B296-9875EE7C14C5}"/>
              </a:ext>
            </a:extLst>
          </p:cNvPr>
          <p:cNvSpPr>
            <a:spLocks xmlns:a="http://schemas.openxmlformats.org/drawingml/2006/main" noGrp="1"/>
          </p:cNvSpPr>
          <p:nvPr/>
        </p:nvSpPr>
        <p:spPr>
          <a:xfrm xmlns:a="http://schemas.openxmlformats.org/drawingml/2006/main">
            <a:off x="609600" y="1743075"/>
            <a:ext cx="1100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BD5036"/>
                </a:solidFill>
                <a:latin typeface="Calibri"/>
                <a:ea typeface="Calibri"/>
                <a:cs typeface="Calibri"/>
              </a:defRPr>
            </a:defPPr>
          </a:lstStyle>
          <a:p xmlns:a="http://schemas.openxmlformats.org/drawingml/2006/main">
            <a:pPr>
              <a:defRPr sz="1650" b="1">
                <a:solidFill>
                  <a:srgbClr val="BD5036"/>
                </a:solidFill>
                <a:latin typeface="Calibri"/>
                <a:ea typeface="Calibri"/>
                <a:cs typeface="Calibri"/>
              </a:defRPr>
            </a:pPr>
            <a:r>
              <a:rPr sz="1650" b="1">
                <a:solidFill>
                  <a:srgbClr val="BD5036"/>
                </a:solidFill>
                <a:latin typeface="Calibri"/>
                <a:ea typeface="Calibri"/>
                <a:cs typeface="Calibri"/>
              </a:rPr>
              <a:t>CONTROLLED FAILURE TEST  /  authored error, not a DeepSeek-generated claim</a:t>
            </a:r>
          </a:p>
        </p:txBody>
      </p:sp>
      <p:sp>
        <p:nvSpPr>
          <p:cNvPr id="7" name="">
            <a:extLst xmlns:a="http://schemas.openxmlformats.org/drawingml/2006/main">
              <a:ext uri="{FF2B5EF4-FFF2-40B4-BE49-F238E27FC236}">
                <a16:creationId xmlns:a16="http://schemas.microsoft.com/office/drawing/2014/main" id="{C447B7A4-F562-44A8-BFD9-510BD4DDB693}"/>
              </a:ext>
            </a:extLst>
          </p:cNvPr>
          <p:cNvSpPr>
            <a:spLocks xmlns:a="http://schemas.openxmlformats.org/drawingml/2006/main" noGrp="1"/>
          </p:cNvSpPr>
          <p:nvPr/>
        </p:nvSpPr>
        <p:spPr>
          <a:xfrm xmlns:a="http://schemas.openxmlformats.org/drawingml/2006/main">
            <a:off x="609600" y="2381250"/>
            <a:ext cx="10972800" cy="1171575"/>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797BB3-C11B-4076-A9A4-9D294E4F8FC0}"/>
              </a:ext>
            </a:extLst>
          </p:cNvPr>
          <p:cNvSpPr>
            <a:spLocks xmlns:a="http://schemas.openxmlformats.org/drawingml/2006/main" noGrp="1"/>
          </p:cNvSpPr>
          <p:nvPr/>
        </p:nvSpPr>
        <p:spPr>
          <a:xfrm xmlns:a="http://schemas.openxmlformats.org/drawingml/2006/main">
            <a:off x="828675" y="26384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FFFFF"/>
                </a:solidFill>
                <a:latin typeface="Calibri"/>
                <a:ea typeface="Calibri"/>
                <a:cs typeface="Calibri"/>
              </a:defRPr>
            </a:def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“This means the outcome increases by eighty percent.”</a:t>
            </a:r>
          </a:p>
        </p:txBody>
      </p:sp>
      <p:sp>
        <p:nvSpPr>
          <p:cNvPr id="9" name="">
            <a:extLst xmlns:a="http://schemas.openxmlformats.org/drawingml/2006/main">
              <a:ext uri="{FF2B5EF4-FFF2-40B4-BE49-F238E27FC236}">
                <a16:creationId xmlns:a16="http://schemas.microsoft.com/office/drawing/2014/main" id="{2CCE1608-20C9-43DE-B493-BA4F7666520B}"/>
              </a:ext>
            </a:extLst>
          </p:cNvPr>
          <p:cNvSpPr>
            <a:spLocks xmlns:a="http://schemas.openxmlformats.org/drawingml/2006/main" noGrp="1"/>
          </p:cNvSpPr>
          <p:nvPr/>
        </p:nvSpPr>
        <p:spPr>
          <a:xfrm xmlns:a="http://schemas.openxmlformats.org/drawingml/2006/main">
            <a:off x="609600" y="3981450"/>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defRPr sz="2175" b="1">
                <a:solidFill>
                  <a:srgbClr val="183D36"/>
                </a:solidFill>
                <a:latin typeface="Calibri"/>
                <a:ea typeface="Calibri"/>
                <a:cs typeface="Calibri"/>
              </a:defRPr>
            </a:pPr>
            <a:r>
              <a:rPr sz="2175" b="1">
                <a:solidFill>
                  <a:srgbClr val="183D36"/>
                </a:solidFill>
                <a:latin typeface="Calibri"/>
                <a:ea typeface="Calibri"/>
                <a:cs typeface="Calibri"/>
              </a:rPr>
              <a:t>What happened</a:t>
            </a:r>
          </a:p>
        </p:txBody>
      </p:sp>
      <p:sp>
        <p:nvSpPr>
          <p:cNvPr id="10" name="">
            <a:extLst xmlns:a="http://schemas.openxmlformats.org/drawingml/2006/main">
              <a:ext uri="{FF2B5EF4-FFF2-40B4-BE49-F238E27FC236}">
                <a16:creationId xmlns:a16="http://schemas.microsoft.com/office/drawing/2014/main" id="{324B6277-550E-4857-9F01-46E2F68F6F7F}"/>
              </a:ext>
            </a:extLst>
          </p:cNvPr>
          <p:cNvSpPr>
            <a:spLocks xmlns:a="http://schemas.openxmlformats.org/drawingml/2006/main" noGrp="1"/>
          </p:cNvSpPr>
          <p:nvPr/>
        </p:nvSpPr>
        <p:spPr>
          <a:xfrm xmlns:a="http://schemas.openxmlformats.org/drawingml/2006/main">
            <a:off x="609600" y="4524375"/>
            <a:ext cx="3381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Pearson coefficient ≠ % increase</a:t>
            </a:r>
          </a:p>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Current text checker accepted it</a:t>
            </a:r>
          </a:p>
        </p:txBody>
      </p:sp>
      <p:sp>
        <p:nvSpPr>
          <p:cNvPr id="11" name="">
            <a:extLst xmlns:a="http://schemas.openxmlformats.org/drawingml/2006/main">
              <a:ext uri="{FF2B5EF4-FFF2-40B4-BE49-F238E27FC236}">
                <a16:creationId xmlns:a16="http://schemas.microsoft.com/office/drawing/2014/main" id="{CD289297-FFAE-4296-A75F-AFB9B27B3A78}"/>
              </a:ext>
            </a:extLst>
          </p:cNvPr>
          <p:cNvSpPr>
            <a:spLocks xmlns:a="http://schemas.openxmlformats.org/drawingml/2006/main" noGrp="1"/>
          </p:cNvSpPr>
          <p:nvPr/>
        </p:nvSpPr>
        <p:spPr>
          <a:xfrm xmlns:a="http://schemas.openxmlformats.org/drawingml/2006/main">
            <a:off x="4476750" y="3981450"/>
            <a:ext cx="3248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defRPr sz="2175" b="1">
                <a:solidFill>
                  <a:srgbClr val="183D36"/>
                </a:solidFill>
                <a:latin typeface="Calibri"/>
                <a:ea typeface="Calibri"/>
                <a:cs typeface="Calibri"/>
              </a:defRPr>
            </a:pPr>
            <a:r>
              <a:rPr sz="2175" b="1">
                <a:solidFill>
                  <a:srgbClr val="183D36"/>
                </a:solidFill>
                <a:latin typeface="Calibri"/>
                <a:ea typeface="Calibri"/>
                <a:cs typeface="Calibri"/>
              </a:rPr>
              <a:t>Why it escaped</a:t>
            </a:r>
          </a:p>
        </p:txBody>
      </p:sp>
      <p:sp>
        <p:nvSpPr>
          <p:cNvPr id="12" name="">
            <a:extLst xmlns:a="http://schemas.openxmlformats.org/drawingml/2006/main">
              <a:ext uri="{FF2B5EF4-FFF2-40B4-BE49-F238E27FC236}">
                <a16:creationId xmlns:a16="http://schemas.microsoft.com/office/drawing/2014/main" id="{29976432-4237-4515-A27A-86EFA2C7ED95}"/>
              </a:ext>
            </a:extLst>
          </p:cNvPr>
          <p:cNvSpPr>
            <a:spLocks xmlns:a="http://schemas.openxmlformats.org/drawingml/2006/main" noGrp="1"/>
          </p:cNvSpPr>
          <p:nvPr/>
        </p:nvSpPr>
        <p:spPr>
          <a:xfrm xmlns:a="http://schemas.openxmlformats.org/drawingml/2006/main">
            <a:off x="4476750" y="4524375"/>
            <a:ext cx="3248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Keywords and number formats</a:t>
            </a:r>
          </a:p>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do not verify statistical meaning</a:t>
            </a:r>
          </a:p>
        </p:txBody>
      </p:sp>
      <p:sp>
        <p:nvSpPr>
          <p:cNvPr id="13" name="">
            <a:extLst xmlns:a="http://schemas.openxmlformats.org/drawingml/2006/main">
              <a:ext uri="{FF2B5EF4-FFF2-40B4-BE49-F238E27FC236}">
                <a16:creationId xmlns:a16="http://schemas.microsoft.com/office/drawing/2014/main" id="{4F63C670-5CFF-451F-9A2B-C203EE589953}"/>
              </a:ext>
            </a:extLst>
          </p:cNvPr>
          <p:cNvSpPr>
            <a:spLocks xmlns:a="http://schemas.openxmlformats.org/drawingml/2006/main" noGrp="1"/>
          </p:cNvSpPr>
          <p:nvPr/>
        </p:nvSpPr>
        <p:spPr>
          <a:xfrm xmlns:a="http://schemas.openxmlformats.org/drawingml/2006/main">
            <a:off x="8334375" y="3981450"/>
            <a:ext cx="3248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defRPr sz="2175" b="1">
                <a:solidFill>
                  <a:srgbClr val="183D36"/>
                </a:solidFill>
                <a:latin typeface="Calibri"/>
                <a:ea typeface="Calibri"/>
                <a:cs typeface="Calibri"/>
              </a:defRPr>
            </a:pPr>
            <a:r>
              <a:rPr sz="2175" b="1">
                <a:solidFill>
                  <a:srgbClr val="183D36"/>
                </a:solidFill>
                <a:latin typeface="Calibri"/>
                <a:ea typeface="Calibri"/>
                <a:cs typeface="Calibri"/>
              </a:rPr>
              <a:t>What needs to change</a:t>
            </a:r>
          </a:p>
        </p:txBody>
      </p:sp>
      <p:sp>
        <p:nvSpPr>
          <p:cNvPr id="14" name="">
            <a:extLst xmlns:a="http://schemas.openxmlformats.org/drawingml/2006/main">
              <a:ext uri="{FF2B5EF4-FFF2-40B4-BE49-F238E27FC236}">
                <a16:creationId xmlns:a16="http://schemas.microsoft.com/office/drawing/2014/main" id="{F199CCF3-9072-493B-A104-BFAED16231F2}"/>
              </a:ext>
            </a:extLst>
          </p:cNvPr>
          <p:cNvSpPr>
            <a:spLocks xmlns:a="http://schemas.openxmlformats.org/drawingml/2006/main" noGrp="1"/>
          </p:cNvSpPr>
          <p:nvPr/>
        </p:nvSpPr>
        <p:spPr>
          <a:xfrm xmlns:a="http://schemas.openxmlformats.org/drawingml/2006/main">
            <a:off x="8334375" y="4524375"/>
            <a:ext cx="3248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Method-specific semantic rubric</a:t>
            </a:r>
          </a:p>
          <a:p xmlns:a="http://schemas.openxmlformats.org/drawingml/2006/main">
            <a:pPr>
              <a:defRPr sz="2025" b="0">
                <a:solidFill>
                  <a:srgbClr val="183D36"/>
                </a:solidFill>
                <a:latin typeface="Calibri"/>
                <a:ea typeface="Calibri"/>
                <a:cs typeface="Calibri"/>
              </a:defRPr>
            </a:pPr>
            <a:r>
              <a:rPr sz="2025" b="0">
                <a:solidFill>
                  <a:srgbClr val="183D36"/>
                </a:solidFill>
                <a:latin typeface="Calibri"/>
                <a:ea typeface="Calibri"/>
                <a:cs typeface="Calibri"/>
              </a:rPr>
              <a:t>Independent team review</a:t>
            </a:r>
          </a:p>
        </p:txBody>
      </p:sp>
      <p:sp>
        <p:nvSpPr>
          <p:cNvPr id="15" name="">
            <a:extLst xmlns:a="http://schemas.openxmlformats.org/drawingml/2006/main">
              <a:ext uri="{FF2B5EF4-FFF2-40B4-BE49-F238E27FC236}">
                <a16:creationId xmlns:a16="http://schemas.microsoft.com/office/drawing/2014/main" id="{EEEA4BE4-9601-4C06-81B4-DA658F2D212C}"/>
              </a:ext>
            </a:extLst>
          </p:cNvPr>
          <p:cNvSpPr>
            <a:spLocks xmlns:a="http://schemas.openxmlformats.org/drawingml/2006/main" noGrp="1"/>
          </p:cNvSpPr>
          <p:nvPr/>
        </p:nvSpPr>
        <p:spPr>
          <a:xfrm xmlns:a="http://schemas.openxmlformats.org/drawingml/2006/main">
            <a:off x="609600" y="58293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BD5036"/>
                </a:solidFill>
                <a:latin typeface="Calibri"/>
                <a:ea typeface="Calibri"/>
                <a:cs typeface="Calibri"/>
              </a:defRPr>
            </a:defPPr>
          </a:lstStyle>
          <a:p xmlns:a="http://schemas.openxmlformats.org/drawingml/2006/main">
            <a:pPr>
              <a:defRPr sz="1725" b="1">
                <a:solidFill>
                  <a:srgbClr val="BD5036"/>
                </a:solidFill>
                <a:latin typeface="Calibri"/>
                <a:ea typeface="Calibri"/>
                <a:cs typeface="Calibri"/>
              </a:defRPr>
            </a:pPr>
            <a:r>
              <a:rPr sz="1725" b="1">
                <a:solidFill>
                  <a:srgbClr val="BD5036"/>
                </a:solidFill>
                <a:latin typeface="Calibri"/>
                <a:ea typeface="Calibri"/>
                <a:cs typeface="Calibri"/>
              </a:rPr>
              <a:t>9 / 12 planted errors caught; 3 missed.  This measures checker coverage, not model reliability.</a:t>
            </a:r>
          </a:p>
        </p:txBody>
      </p:sp>
    </p:spTree>
    <p:extLst>
      <p:ext uri="{BB962C8B-B14F-4D97-AF65-F5344CB8AC3E}">
        <p14:creationId xmlns:p14="http://schemas.microsoft.com/office/powerpoint/2010/main" val="37923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2026-10-12T20:02:59.6250000Z</dcterms:created>
  <dcterms:modified xsi:type="dcterms:W3CDTF">2026-10-12T20:02:59.6250000Z</dcterms:modified>
</coreProperties>
</file>